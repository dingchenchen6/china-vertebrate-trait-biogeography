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png" ContentType="image/pn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488a136d4c58e41b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a484fcbcf99acb2a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3a5cfa3bb9f41ffc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7e6679c31577401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c5b0376a48648b32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391687f47edcc456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a751e5e300b873fa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77504220c99f94b0.png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a5052b283053386d.png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190750"/>
            <a:ext cx="1143000" cy="47625"/>
          </a:xfrm>
          <a:prstGeom prst="rect">
            <a:avLst/>
          </a:prstGeom>
          <a:solidFill>
            <a:srgbClr val="4FA3E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2950" y="1743075"/>
            <a:ext cx="401431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8FC4EA"/>
                </a:solidFill>
                <a:latin typeface="Arial"/>
                <a:ea typeface="Microsoft YaHei"/>
                <a:cs typeface="Arial"/>
              </a:rPr>
              <a:t>中国陆生脊椎动物 · 群落功能生物地理学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2470" y="2436495"/>
            <a:ext cx="6079808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内温性缓冲了群落性状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12470" y="3065145"/>
            <a:ext cx="3687508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对环境的过滤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1045" y="3860482"/>
            <a:ext cx="593393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8FC4EA"/>
                </a:solidFill>
                <a:latin typeface="Arial"/>
                <a:ea typeface="Microsoft YaHei"/>
                <a:cs typeface="Arial"/>
              </a:rPr>
              <a:t>Endothermy buffers assemblage trait composition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1045" y="4165282"/>
            <a:ext cx="371689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8FC4EA"/>
                </a:solidFill>
                <a:latin typeface="Arial"/>
                <a:ea typeface="Microsoft YaHei"/>
                <a:cs typeface="Arial"/>
              </a:rPr>
              <a:t>against environmental filtering</a:t>
            </a:r>
          </a:p>
        </p:txBody>
      </p:sp>
      <p:sp>
        <p:nvSpPr>
          <p:cNvPr id="10" name="Line 10"/>
          <p:cNvSpPr/>
          <p:nvPr/>
        </p:nvSpPr>
        <p:spPr>
          <a:xfrm>
            <a:off x="762000" y="4857750"/>
            <a:ext cx="4572000" cy="9525"/>
          </a:xfrm>
          <a:custGeom>
            <a:avLst/>
            <a:gdLst/>
            <a:ahLst/>
            <a:cxnLst/>
            <a:rect l="l" t="t" r="r" b="b"/>
            <a:pathLst>
              <a:path w="4572000" h="9525">
                <a:moveTo>
                  <a:pt x="0" y="0"/>
                </a:moveTo>
                <a:lnTo>
                  <a:pt x="4572000" y="0"/>
                </a:lnTo>
              </a:path>
            </a:pathLst>
          </a:custGeom>
          <a:noFill/>
          <a:ln w="9525">
            <a:solidFill>
              <a:srgbClr val="4FA3E3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739140" y="5063490"/>
            <a:ext cx="87382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丁晨晨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5808" y="5444014"/>
            <a:ext cx="176417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B9D9F2"/>
                </a:solidFill>
                <a:latin typeface="Arial"/>
                <a:ea typeface="Microsoft YaHei"/>
                <a:cs typeface="Arial"/>
              </a:rPr>
              <a:t>北京大学 保护生态学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7712" y="5974556"/>
            <a:ext cx="95690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7FB3DA"/>
                </a:solidFill>
                <a:latin typeface="Arial"/>
                <a:ea typeface="Microsoft YaHei"/>
                <a:cs typeface="Arial"/>
              </a:rPr>
              <a:t>2026 年 8 月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8001000" y="1238250"/>
            <a:ext cx="3238500" cy="3238500"/>
            <a:chOff x="8001000" y="1238250"/>
            <a:chExt cx="3238500" cy="3238500"/>
          </a:xfrm>
        </p:grpSpPr>
        <p:sp>
          <p:nvSpPr>
            <p:cNvPr id="14" name="Ellipse 14"/>
            <p:cNvSpPr/>
            <p:nvPr/>
          </p:nvSpPr>
          <p:spPr>
            <a:xfrm>
              <a:off x="8191500" y="1428750"/>
              <a:ext cx="2857500" cy="2857500"/>
            </a:xfrm>
            <a:prstGeom prst="ellipse">
              <a:avLst/>
            </a:prstGeom>
            <a:noFill/>
            <a:ln w="14288">
              <a:solidFill>
                <a:srgbClr val="4FA3E3">
                  <a:alpha val="20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8620125" y="1857375"/>
              <a:ext cx="2000250" cy="2000250"/>
            </a:xfrm>
            <a:prstGeom prst="ellipse">
              <a:avLst/>
            </a:prstGeom>
            <a:noFill/>
            <a:ln w="14288">
              <a:solidFill>
                <a:srgbClr val="4FA3E3">
                  <a:alpha val="20000"/>
                </a:srgbClr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9048750" y="2286000"/>
              <a:ext cx="1143000" cy="1143000"/>
            </a:xfrm>
            <a:prstGeom prst="ellipse">
              <a:avLst/>
            </a:prstGeom>
            <a:noFill/>
            <a:ln w="14288">
              <a:solidFill>
                <a:srgbClr val="4FA3E3">
                  <a:alpha val="20000"/>
                </a:srgbClr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9620250" y="1238250"/>
              <a:ext cx="9525" cy="3238500"/>
            </a:xfrm>
            <a:custGeom>
              <a:avLst/>
              <a:gdLst/>
              <a:ahLst/>
              <a:cxnLst/>
              <a:rect l="l" t="t" r="r" b="b"/>
              <a:pathLst>
                <a:path w="9525" h="3238500">
                  <a:moveTo>
                    <a:pt x="0" y="0"/>
                  </a:moveTo>
                  <a:lnTo>
                    <a:pt x="0" y="3238500"/>
                  </a:lnTo>
                </a:path>
              </a:pathLst>
            </a:custGeom>
            <a:noFill/>
            <a:ln w="9525">
              <a:solidFill>
                <a:srgbClr val="4FA3E3">
                  <a:alpha val="20000"/>
                </a:srgbClr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8001000" y="285750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9525">
              <a:solidFill>
                <a:srgbClr val="4FA3E3">
                  <a:alpha val="20000"/>
                </a:srgbClr>
              </a:solidFill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8848969" y="2408872"/>
            <a:ext cx="1542562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dirty="0">
                <a:solidFill>
                  <a:srgbClr val="C9E3F7"/>
                </a:solidFill>
                <a:latin typeface="Arial"/>
                <a:ea typeface="Microsoft YaHei"/>
                <a:cs typeface="Arial"/>
              </a:rPr>
              <a:t>2,837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17844" y="2929414"/>
            <a:ext cx="40481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8FC4EA"/>
                </a:solidFill>
                <a:latin typeface="Arial"/>
                <a:ea typeface="Microsoft YaHei"/>
                <a:cs typeface="Arial"/>
              </a:rPr>
              <a:t>物种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829615" y="3231356"/>
            <a:ext cx="15812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8FC4EA"/>
                </a:solidFill>
                <a:latin typeface="Arial"/>
                <a:ea typeface="Microsoft YaHei"/>
                <a:cs typeface="Arial"/>
              </a:rPr>
              <a:t>鸟 · 兽 · 爬行 · 两栖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155960" y="4641056"/>
            <a:ext cx="29285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7FB3DA"/>
                </a:solidFill>
                <a:latin typeface="Arial"/>
                <a:ea typeface="Microsoft YaHei"/>
                <a:cs typeface="Arial"/>
              </a:rPr>
              <a:t>50 km 网格 3,782 格 | 33 科为重复单元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报告提纲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71500" y="1143000"/>
            <a:ext cx="11049000" cy="5105400"/>
            <a:chOff x="571500" y="1143000"/>
            <a:chExt cx="11049000" cy="5105400"/>
          </a:xfrm>
        </p:grpSpPr>
        <p:sp>
          <p:nvSpPr>
            <p:cNvPr id="6" name="Rectangle 6"/>
            <p:cNvSpPr/>
            <p:nvPr/>
          </p:nvSpPr>
          <p:spPr>
            <a:xfrm>
              <a:off x="571500" y="1143000"/>
              <a:ext cx="11049000" cy="914400"/>
            </a:xfrm>
            <a:prstGeom prst="roundRect">
              <a:avLst>
                <a:gd name="adj" fmla="val 4167"/>
              </a:avLst>
            </a:prstGeom>
            <a:solidFill>
              <a:srgbClr val="F4F8FC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571500" y="1143000"/>
              <a:ext cx="47625" cy="9144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80110" y="1332548"/>
              <a:ext cx="4490235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1 问题：两篇对标文献留下的空白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88682" y="1729264"/>
              <a:ext cx="543258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5A6B7C"/>
                  </a:solidFill>
                  <a:latin typeface="Arial"/>
                  <a:ea typeface="Microsoft YaHei"/>
                  <a:cs typeface="Arial"/>
                </a:rPr>
                <a:t>效应「因类群而异」被反复观察到，却从未被机制化、被正式检验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71500" y="2190750"/>
              <a:ext cx="11049000" cy="914400"/>
            </a:xfrm>
            <a:prstGeom prst="roundRect">
              <a:avLst>
                <a:gd name="adj" fmla="val 4167"/>
              </a:avLst>
            </a:prstGeom>
            <a:solidFill>
              <a:srgbClr val="F4F8FC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71500" y="2190750"/>
              <a:ext cx="47625" cy="9144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80110" y="2380298"/>
              <a:ext cx="4789272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2 假说：体温调节模式决定过滤强度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88682" y="2777014"/>
              <a:ext cx="527430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5A6B7C"/>
                  </a:solidFill>
                  <a:latin typeface="Arial"/>
                  <a:ea typeface="Microsoft YaHei"/>
                  <a:cs typeface="Arial"/>
                </a:rPr>
                <a:t>内温性使体温与环境解耦 → 恒温类群的性状应受更弱的环境约束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71500" y="3238500"/>
              <a:ext cx="11049000" cy="914400"/>
            </a:xfrm>
            <a:prstGeom prst="roundRect">
              <a:avLst>
                <a:gd name="adj" fmla="val 4167"/>
              </a:avLst>
            </a:prstGeom>
            <a:solidFill>
              <a:srgbClr val="EAF3FB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71500" y="3238500"/>
              <a:ext cx="47625" cy="914400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80110" y="3428048"/>
              <a:ext cx="5088310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3 设计：四个决定结论成败的方法选择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88682" y="3824764"/>
              <a:ext cx="495773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5A6B7C"/>
                  </a:solidFill>
                  <a:latin typeface="Arial"/>
                  <a:ea typeface="Microsoft YaHei"/>
                  <a:cs typeface="Arial"/>
                </a:rPr>
                <a:t>重复单元 · 性状分布的四阶矩 · 零模型的权重 · 第四角检验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71500" y="4286250"/>
              <a:ext cx="11049000" cy="914400"/>
            </a:xfrm>
            <a:prstGeom prst="roundRect">
              <a:avLst>
                <a:gd name="adj" fmla="val 4167"/>
              </a:avLst>
            </a:prstGeom>
            <a:solidFill>
              <a:srgbClr val="F4F8FC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71500" y="4286250"/>
              <a:ext cx="47625" cy="9144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80110" y="4475798"/>
              <a:ext cx="419119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4 结果：七条证据与它们的分歧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88682" y="4872514"/>
              <a:ext cx="575845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5A6B7C"/>
                  </a:solidFill>
                  <a:latin typeface="Arial"/>
                  <a:ea typeface="Microsoft YaHei"/>
                  <a:cs typeface="Arial"/>
                </a:rPr>
                <a:t>功能结构 · 耦合不对称 · 人为过滤 · 功能冗余 · 功能分区 · 保护空缺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71500" y="5334000"/>
              <a:ext cx="11049000" cy="914400"/>
            </a:xfrm>
            <a:prstGeom prst="roundRect">
              <a:avLst>
                <a:gd name="adj" fmla="val 4167"/>
              </a:avLst>
            </a:prstGeom>
            <a:solidFill>
              <a:srgbClr val="F4F8F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71500" y="5334000"/>
              <a:ext cx="47625" cy="9144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80110" y="5523548"/>
              <a:ext cx="3294086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5 结论与仍然存在的缺口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8682" y="5920264"/>
              <a:ext cx="543258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5A6B7C"/>
                  </a:solidFill>
                  <a:latin typeface="Arial"/>
                  <a:ea typeface="Microsoft YaHei"/>
                  <a:cs typeface="Arial"/>
                </a:rPr>
                <a:t>哪些结论稳健、哪些被我们自己的检验推翻、下一步需要什么数据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522821" y="6506528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33425" y="2090738"/>
            <a:ext cx="1892356" cy="198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0" b="1" dirty="0">
                <a:solidFill>
                  <a:srgbClr val="4FA3E3">
                    <a:alphaMod val="35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13435" y="3723322"/>
            <a:ext cx="6436424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问题：对标文献留下的空白</a:t>
            </a:r>
          </a:p>
        </p:txBody>
      </p:sp>
      <p:sp>
        <p:nvSpPr>
          <p:cNvPr id="6" name="Line 6"/>
          <p:cNvSpPr/>
          <p:nvPr/>
        </p:nvSpPr>
        <p:spPr>
          <a:xfrm>
            <a:off x="876300" y="4476750"/>
            <a:ext cx="3124200" cy="9525"/>
          </a:xfrm>
          <a:custGeom>
            <a:avLst/>
            <a:gdLst/>
            <a:ahLst/>
            <a:cxnLst/>
            <a:rect l="l" t="t" r="r" b="b"/>
            <a:pathLst>
              <a:path w="3124200" h="9525">
                <a:moveTo>
                  <a:pt x="0" y="0"/>
                </a:moveTo>
                <a:lnTo>
                  <a:pt x="3124200" y="0"/>
                </a:lnTo>
              </a:path>
            </a:pathLst>
          </a:custGeom>
          <a:noFill/>
          <a:ln w="28575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838200" y="4791075"/>
            <a:ext cx="743188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FCBEA"/>
                </a:solidFill>
                <a:latin typeface="Arial"/>
                <a:ea typeface="Microsoft YaHei"/>
                <a:cs typeface="Arial"/>
              </a:rPr>
              <a:t>Huang et al. 2023 The Innovation · Sun et al. 2025 Zoological Research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327374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两篇对标文献做了什么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7965615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同样的四类群、同样的中国、同样的功能多样性指标——结论都停在「效应因类群而异」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476250" y="1390650"/>
            <a:ext cx="11239500" cy="2381250"/>
            <a:chOff x="476250" y="1390650"/>
            <a:chExt cx="11239500" cy="2381250"/>
          </a:xfrm>
        </p:grpSpPr>
        <p:sp>
          <p:nvSpPr>
            <p:cNvPr id="9" name="Rectangle 9"/>
            <p:cNvSpPr/>
            <p:nvPr/>
          </p:nvSpPr>
          <p:spPr>
            <a:xfrm>
              <a:off x="476250" y="1390650"/>
              <a:ext cx="5524500" cy="2381250"/>
            </a:xfrm>
            <a:prstGeom prst="roundRect">
              <a:avLst>
                <a:gd name="adj" fmla="val 1600"/>
              </a:avLst>
            </a:prstGeom>
            <a:solidFill>
              <a:srgbClr val="F7FAFD"/>
            </a:solidFill>
            <a:ln w="9525">
              <a:solidFill>
                <a:srgbClr val="D6E4F0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76250" y="1390650"/>
              <a:ext cx="5524500" cy="400050"/>
            </a:xfrm>
            <a:prstGeom prst="roundRect">
              <a:avLst>
                <a:gd name="adj" fmla="val 9524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476250" y="1676400"/>
              <a:ext cx="5524500" cy="1143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652" y="1513046"/>
              <a:ext cx="3445221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Huang et al. 2023 The Innovation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51510" y="1985010"/>
              <a:ext cx="343928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2,430 种 · 50 km Behrmann 网格 3,888 格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51510" y="2270760"/>
              <a:ext cx="239649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FRic / FEve / FDiv + NRI / NTI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1510" y="2556510"/>
              <a:ext cx="303618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 xml:space="preserve">驱动：现代气候 + </a:t>
              </a:r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末次盛冰期气候变化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1510" y="2842260"/>
              <a:ext cx="334289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人类因子：仅公元前 10,000 年的人口密度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2462" y="3231356"/>
              <a:ext cx="26821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A6D1F"/>
                  </a:solidFill>
                  <a:latin typeface="Arial"/>
                  <a:ea typeface="Microsoft YaHei"/>
                  <a:cs typeface="Arial"/>
                </a:rPr>
                <a:t>结论：「LGM 效应因不同类群而异」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52462" y="3479006"/>
              <a:ext cx="267390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A6D1F"/>
                  </a:solidFill>
                  <a:latin typeface="Arial"/>
                  <a:ea typeface="Microsoft YaHei"/>
                  <a:cs typeface="Arial"/>
                </a:rPr>
                <a:t>——但未说明为什么、也未做正式检验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91250" y="1390650"/>
              <a:ext cx="5524500" cy="2381250"/>
            </a:xfrm>
            <a:prstGeom prst="roundRect">
              <a:avLst>
                <a:gd name="adj" fmla="val 1600"/>
              </a:avLst>
            </a:prstGeom>
            <a:solidFill>
              <a:srgbClr val="F7FAFD"/>
            </a:solidFill>
            <a:ln w="9525">
              <a:solidFill>
                <a:srgbClr val="D6E4F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191250" y="1390650"/>
              <a:ext cx="5524500" cy="400050"/>
            </a:xfrm>
            <a:prstGeom prst="roundRect">
              <a:avLst>
                <a:gd name="adj" fmla="val 9524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191250" y="1676400"/>
              <a:ext cx="5524500" cy="11430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63652" y="1513046"/>
              <a:ext cx="3751159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Sun et al. 2025 Zoological Research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66510" y="1985010"/>
              <a:ext cx="17305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2,334 种 · 0.5° 网格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66510" y="2270760"/>
              <a:ext cx="271195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性状体积 / 性状密度 + 演化独特性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66510" y="2556510"/>
              <a:ext cx="315887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驱动：MAT / MAP（其余因共线性剔除）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66510" y="2842260"/>
              <a:ext cx="10820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人类因子：</a:t>
              </a:r>
              <a:r>
                <a:rPr lang="zh-CN" sz="1200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无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67462" y="3231356"/>
              <a:ext cx="23288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A6D1F"/>
                  </a:solidFill>
                  <a:latin typeface="Arial"/>
                  <a:ea typeface="Microsoft YaHei"/>
                  <a:cs typeface="Arial"/>
                </a:rPr>
                <a:t>结论：「两栖类对环境最敏感」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67462" y="3479006"/>
              <a:ext cx="185237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A6D1F"/>
                  </a:solidFill>
                  <a:latin typeface="Arial"/>
                  <a:ea typeface="Microsoft YaHei"/>
                  <a:cs typeface="Arial"/>
                </a:rPr>
                <a:t>——同样是描述，而非机制</a:t>
              </a:r>
            </a:p>
          </p:txBody>
        </p:sp>
      </p:grpSp>
      <p:sp>
        <p:nvSpPr>
          <p:cNvPr id="30" name="Rectangle 30"/>
          <p:cNvSpPr/>
          <p:nvPr/>
        </p:nvSpPr>
        <p:spPr>
          <a:xfrm>
            <a:off x="476250" y="4000500"/>
            <a:ext cx="11239500" cy="2171700"/>
          </a:xfrm>
          <a:prstGeom prst="roundRect">
            <a:avLst>
              <a:gd name="adj" fmla="val 1754"/>
            </a:avLst>
          </a:prstGeom>
          <a:solidFill>
            <a:srgbClr val="FFF8F2"/>
          </a:solidFill>
          <a:ln w="9525">
            <a:solidFill>
              <a:srgbClr val="F0D4BC"/>
            </a:solidFill>
          </a:ln>
        </p:spPr>
      </p:sp>
      <p:sp>
        <p:nvSpPr>
          <p:cNvPr id="31" name="Rectangle 31"/>
          <p:cNvSpPr/>
          <p:nvPr/>
        </p:nvSpPr>
        <p:spPr>
          <a:xfrm>
            <a:off x="476250" y="4000500"/>
            <a:ext cx="47625" cy="21717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741045" y="4203382"/>
            <a:ext cx="181313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8C2D04"/>
                </a:solidFill>
                <a:latin typeface="Arial"/>
                <a:ea typeface="Microsoft YaHei"/>
                <a:cs typeface="Arial"/>
              </a:rPr>
              <a:t>五个共同的空白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746760" y="4632960"/>
            <a:ext cx="6515100" cy="1463040"/>
            <a:chOff x="746760" y="4632960"/>
            <a:chExt cx="6515100" cy="1463040"/>
          </a:xfrm>
        </p:grpSpPr>
        <p:sp>
          <p:nvSpPr>
            <p:cNvPr id="33" name="TextBox 33"/>
            <p:cNvSpPr txBox="1"/>
            <p:nvPr/>
          </p:nvSpPr>
          <p:spPr>
            <a:xfrm>
              <a:off x="746760" y="4632960"/>
              <a:ext cx="65151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1 没有从第一性原理提出可证伪的跨类群假设，也没有做类群 × 驱动因子的</a:t>
              </a:r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交互检验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46760" y="4937760"/>
              <a:ext cx="457847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2 完全忽略</a:t>
              </a:r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当代</a:t>
              </a:r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人类活动——而这正是保护决策最需要的部分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6760" y="5242560"/>
              <a:ext cx="340423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3 单一空间粒度，未检验尺度依赖（MAUP）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46760" y="5547360"/>
              <a:ext cx="596303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4 以</a:t>
              </a:r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网格</a:t>
              </a:r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为重复单元：同一纲的所有格共用一个物种库与性状矩阵，属伪重复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46760" y="5852160"/>
              <a:ext cx="534085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5 CWM 直接对环境回归——存在严重的第一类错误膨胀，两文均未处理</a:t>
              </a:r>
            </a:p>
          </p:txBody>
        </p:sp>
      </p:grpSp>
      <p:sp>
        <p:nvSpPr>
          <p:cNvPr id="39" name="Line 39"/>
          <p:cNvSpPr/>
          <p:nvPr/>
        </p:nvSpPr>
        <p:spPr>
          <a:xfrm>
            <a:off x="381000" y="63627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369570" y="6532245"/>
            <a:ext cx="39596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Huang et al. 2023 Innov. 4:100379；Sun et al. 2025 Zool. Res.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522821" y="651605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327374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科学问题与热缓冲假说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4614862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过滤器的强度本身，能否由生物的生理属性预测？</a:t>
            </a:r>
          </a:p>
        </p:txBody>
      </p:sp>
      <p:sp>
        <p:nvSpPr>
          <p:cNvPr id="9" name="Rectangle 9"/>
          <p:cNvSpPr/>
          <p:nvPr/>
        </p:nvSpPr>
        <p:spPr>
          <a:xfrm>
            <a:off x="476250" y="1390650"/>
            <a:ext cx="11239500" cy="704850"/>
          </a:xfrm>
          <a:prstGeom prst="roundRect">
            <a:avLst>
              <a:gd name="adj" fmla="val 5405"/>
            </a:avLst>
          </a:prstGeom>
          <a:solidFill>
            <a:srgbClr val="00336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2106097" y="1528286"/>
            <a:ext cx="7979807" cy="350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7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跨越中国的环境梯度，决定群落性状组成的环境过滤器身份与强度，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957828" y="1794986"/>
            <a:ext cx="4276344" cy="350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7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是否可由类群的</a:t>
            </a:r>
            <a:r>
              <a:rPr lang="zh-CN" sz="1725" b="1" dirty="0">
                <a:solidFill>
                  <a:srgbClr val="FFD166"/>
                </a:solidFill>
                <a:latin typeface="Arial"/>
                <a:ea typeface="Microsoft YaHei"/>
                <a:cs typeface="Arial"/>
              </a:rPr>
              <a:t>体温调节模式</a:t>
            </a:r>
            <a:r>
              <a:rPr lang="zh-CN" sz="17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预测？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476250" y="2362200"/>
            <a:ext cx="11239500" cy="1714500"/>
            <a:chOff x="476250" y="2362200"/>
            <a:chExt cx="11239500" cy="1714500"/>
          </a:xfrm>
        </p:grpSpPr>
        <p:sp>
          <p:nvSpPr>
            <p:cNvPr id="12" name="Rectangle 12"/>
            <p:cNvSpPr/>
            <p:nvPr/>
          </p:nvSpPr>
          <p:spPr>
            <a:xfrm>
              <a:off x="476250" y="2362200"/>
              <a:ext cx="3429000" cy="1714500"/>
            </a:xfrm>
            <a:prstGeom prst="roundRect">
              <a:avLst>
                <a:gd name="adj" fmla="val 2222"/>
              </a:avLst>
            </a:prstGeom>
            <a:solidFill>
              <a:srgbClr val="FDF0EE"/>
            </a:solidFill>
            <a:ln w="9525">
              <a:solidFill>
                <a:srgbClr val="E8C4BE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2175" y="2546032"/>
              <a:ext cx="235714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B2182B"/>
                  </a:solidFill>
                  <a:latin typeface="Arial"/>
                  <a:ea typeface="Microsoft YaHei"/>
                  <a:cs typeface="Arial"/>
                </a:rPr>
                <a:t>恒温：鸟类 · 哺乳类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11580" y="2937510"/>
              <a:ext cx="19583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内温性使体温与环境</a:t>
              </a:r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解耦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99210" y="32232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代价是极高的能量需求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11600" y="3596164"/>
              <a:ext cx="195830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B2182B"/>
                  </a:solidFill>
                  <a:latin typeface="Arial"/>
                  <a:ea typeface="Microsoft YaHei"/>
                  <a:cs typeface="Arial"/>
                </a:rPr>
                <a:t>→ 性状受环境约束较松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286250" y="2362200"/>
              <a:ext cx="3619500" cy="1714500"/>
            </a:xfrm>
            <a:prstGeom prst="roundRect">
              <a:avLst>
                <a:gd name="adj" fmla="val 2222"/>
              </a:avLst>
            </a:prstGeom>
            <a:solidFill>
              <a:srgbClr val="F4F8FC"/>
            </a:solidFill>
            <a:ln w="9525">
              <a:solidFill>
                <a:srgbClr val="CFDD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822013" y="2546032"/>
              <a:ext cx="54797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预测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190637" y="2948464"/>
              <a:ext cx="181072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变温类群的性状–环境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48739" y="3215164"/>
              <a:ext cx="189452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耦合强度应</a:t>
              </a:r>
              <a:r>
                <a:rPr lang="zh-CN" sz="127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系统性更高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24488" y="365045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5A6B7C"/>
                  </a:solidFill>
                  <a:latin typeface="Arial"/>
                  <a:ea typeface="Microsoft YaHei"/>
                  <a:cs typeface="Arial"/>
                </a:rPr>
                <a:t>尤其在热能量轴上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286750" y="2362200"/>
              <a:ext cx="3429000" cy="1714500"/>
            </a:xfrm>
            <a:prstGeom prst="roundRect">
              <a:avLst>
                <a:gd name="adj" fmla="val 2222"/>
              </a:avLst>
            </a:prstGeom>
            <a:solidFill>
              <a:srgbClr val="EDF4F1"/>
            </a:solidFill>
            <a:ln w="9525">
              <a:solidFill>
                <a:srgbClr val="BFD8CE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949191" y="2546032"/>
              <a:ext cx="210411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1B7837"/>
                  </a:solidFill>
                  <a:latin typeface="Arial"/>
                  <a:ea typeface="Microsoft YaHei"/>
                  <a:cs typeface="Arial"/>
                </a:rPr>
                <a:t>变温：爬行 · 两栖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372600" y="2937510"/>
              <a:ext cx="12573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体温随环境变化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109710" y="32232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性状直接受热环境筛选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022100" y="3596164"/>
              <a:ext cx="195830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1B7837"/>
                  </a:solidFill>
                  <a:latin typeface="Arial"/>
                  <a:ea typeface="Microsoft YaHei"/>
                  <a:cs typeface="Arial"/>
                </a:rPr>
                <a:t>→ 性状受环境紧密约束</a:t>
              </a:r>
            </a:p>
          </p:txBody>
        </p:sp>
      </p:grpSp>
      <p:sp>
        <p:nvSpPr>
          <p:cNvPr id="28" name="Freeform 28"/>
          <p:cNvSpPr/>
          <p:nvPr/>
        </p:nvSpPr>
        <p:spPr>
          <a:xfrm>
            <a:off x="3924300" y="3219450"/>
            <a:ext cx="323850" cy="9525"/>
          </a:xfrm>
          <a:custGeom>
            <a:avLst/>
            <a:gdLst/>
            <a:ahLst/>
            <a:cxnLst/>
            <a:rect l="l" t="t" r="r" b="b"/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solidFill>
            <a:srgbClr val="000000"/>
          </a:solidFill>
          <a:ln w="19050">
            <a:solidFill>
              <a:srgbClr val="8899AA"/>
            </a:solidFill>
            <a:tailEnd type="triangle" w="lg" len="lg"/>
          </a:ln>
        </p:spPr>
      </p:sp>
      <p:sp>
        <p:nvSpPr>
          <p:cNvPr id="29" name="Freeform 29"/>
          <p:cNvSpPr/>
          <p:nvPr/>
        </p:nvSpPr>
        <p:spPr>
          <a:xfrm>
            <a:off x="7924800" y="3219450"/>
            <a:ext cx="323850" cy="9525"/>
          </a:xfrm>
          <a:custGeom>
            <a:avLst/>
            <a:gdLst/>
            <a:ahLst/>
            <a:cxnLst/>
            <a:rect l="l" t="t" r="r" b="b"/>
            <a:pathLst>
              <a:path w="323850" h="9525">
                <a:moveTo>
                  <a:pt x="32385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9050">
            <a:solidFill>
              <a:srgbClr val="8899AA"/>
            </a:solidFill>
            <a:tailEnd type="triangle" w="lg" len="lg"/>
          </a:ln>
        </p:spPr>
      </p:sp>
      <p:sp>
        <p:nvSpPr>
          <p:cNvPr id="30" name="Rectangle 30"/>
          <p:cNvSpPr/>
          <p:nvPr/>
        </p:nvSpPr>
        <p:spPr>
          <a:xfrm>
            <a:off x="476250" y="4305300"/>
            <a:ext cx="11239500" cy="1866900"/>
          </a:xfrm>
          <a:prstGeom prst="roundRect">
            <a:avLst>
              <a:gd name="adj" fmla="val 2041"/>
            </a:avLst>
          </a:prstGeom>
          <a:solidFill>
            <a:srgbClr val="F7FAFD"/>
          </a:solidFill>
          <a:ln w="9525">
            <a:solidFill>
              <a:srgbClr val="D6E4F0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741998" y="4516279"/>
            <a:ext cx="269683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为什么这个假说值得检验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746760" y="4937760"/>
            <a:ext cx="6664071" cy="1215390"/>
            <a:chOff x="746760" y="4937760"/>
            <a:chExt cx="6664071" cy="1215390"/>
          </a:xfrm>
        </p:grpSpPr>
        <p:sp>
          <p:nvSpPr>
            <p:cNvPr id="32" name="TextBox 32"/>
            <p:cNvSpPr txBox="1"/>
            <p:nvPr/>
          </p:nvSpPr>
          <p:spPr>
            <a:xfrm>
              <a:off x="746760" y="4937760"/>
              <a:ext cx="508673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· 它是</a:t>
              </a:r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可证伪</a:t>
              </a:r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的：给出方向明确的定量预测，而非「因类群而异」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46760" y="5261610"/>
              <a:ext cx="596303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· 它是</a:t>
              </a:r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可迁移</a:t>
              </a:r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的：不依赖中国的特殊性，可在任何区域、任何类群集合上重复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46760" y="5585460"/>
              <a:ext cx="666407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· 它</a:t>
              </a:r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直接关系保护</a:t>
              </a:r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：若成立，变温类群在气候与土地利用变化下的暴露度被系统性低估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6760" y="5909310"/>
              <a:ext cx="440321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· 检验它需要真正的重复单元——这正是前人设计上的短板</a:t>
              </a:r>
            </a:p>
          </p:txBody>
        </p:sp>
      </p:grpSp>
      <p:sp>
        <p:nvSpPr>
          <p:cNvPr id="37" name="Line 37"/>
          <p:cNvSpPr/>
          <p:nvPr/>
        </p:nvSpPr>
        <p:spPr>
          <a:xfrm>
            <a:off x="381000" y="63627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11522821" y="651605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33425" y="2090738"/>
            <a:ext cx="1892356" cy="198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0" b="1" dirty="0">
                <a:solidFill>
                  <a:srgbClr val="4FA3E3">
                    <a:alphaMod val="35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13435" y="3723322"/>
            <a:ext cx="6436424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设计：四个决定成败的选择</a:t>
            </a:r>
          </a:p>
        </p:txBody>
      </p:sp>
      <p:sp>
        <p:nvSpPr>
          <p:cNvPr id="6" name="Line 6"/>
          <p:cNvSpPr/>
          <p:nvPr/>
        </p:nvSpPr>
        <p:spPr>
          <a:xfrm>
            <a:off x="876300" y="4476750"/>
            <a:ext cx="3124200" cy="9525"/>
          </a:xfrm>
          <a:custGeom>
            <a:avLst/>
            <a:gdLst/>
            <a:ahLst/>
            <a:cxnLst/>
            <a:rect l="l" t="t" r="r" b="b"/>
            <a:pathLst>
              <a:path w="3124200" h="9525">
                <a:moveTo>
                  <a:pt x="0" y="0"/>
                </a:moveTo>
                <a:lnTo>
                  <a:pt x="3124200" y="0"/>
                </a:lnTo>
              </a:path>
            </a:pathLst>
          </a:custGeom>
          <a:noFill/>
          <a:ln w="28575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838200" y="4791075"/>
            <a:ext cx="583263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FCBEA"/>
                </a:solidFill>
                <a:latin typeface="Arial"/>
                <a:ea typeface="Microsoft YaHei"/>
                <a:cs typeface="Arial"/>
              </a:rPr>
              <a:t>重复单元 · 性状分布的四阶矩 · 零模型的权重 · 第四角检验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数据基础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625902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2,837 种 · 两个嵌套粒度 · 47 个环境变量归并为 5 个生态学预测轴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50" y="1299940"/>
            <a:ext cx="7620000" cy="4372420"/>
          </a:xfrm>
          <a:prstGeom prst="rect">
            <a:avLst/>
          </a:prstGeom>
        </p:spPr>
      </p:pic>
      <p:grpSp>
        <p:nvGrpSpPr>
          <p:cNvPr id="25" name="Group 25"/>
          <p:cNvGrpSpPr/>
          <p:nvPr/>
        </p:nvGrpSpPr>
        <p:grpSpPr>
          <a:xfrm>
            <a:off x="8248650" y="1333500"/>
            <a:ext cx="3712725" cy="4343400"/>
            <a:chOff x="8248650" y="1333500"/>
            <a:chExt cx="3712725" cy="4343400"/>
          </a:xfrm>
        </p:grpSpPr>
        <p:sp>
          <p:nvSpPr>
            <p:cNvPr id="10" name="Rectangle 10"/>
            <p:cNvSpPr/>
            <p:nvPr/>
          </p:nvSpPr>
          <p:spPr>
            <a:xfrm>
              <a:off x="8248650" y="1333500"/>
              <a:ext cx="3505200" cy="819150"/>
            </a:xfrm>
            <a:prstGeom prst="roundRect">
              <a:avLst>
                <a:gd name="adj" fmla="val 4651"/>
              </a:avLst>
            </a:prstGeom>
            <a:solidFill>
              <a:srgbClr val="F4F8F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410575" y="1433512"/>
              <a:ext cx="100601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2,837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424862" y="1840706"/>
              <a:ext cx="35365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6B7C"/>
                  </a:solidFill>
                  <a:latin typeface="Arial"/>
                  <a:ea typeface="Microsoft YaHei"/>
                  <a:cs typeface="Arial"/>
                </a:rPr>
                <a:t>物种（鸟 1,177 · 兽 631 · 爬 520 · 两栖 509）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248650" y="2266950"/>
              <a:ext cx="3505200" cy="819150"/>
            </a:xfrm>
            <a:prstGeom prst="roundRect">
              <a:avLst>
                <a:gd name="adj" fmla="val 4651"/>
              </a:avLst>
            </a:prstGeom>
            <a:solidFill>
              <a:srgbClr val="F4F8F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410575" y="2366962"/>
              <a:ext cx="197213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3,782 / 950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424862" y="2774156"/>
              <a:ext cx="28875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6B7C"/>
                  </a:solidFill>
                  <a:latin typeface="Arial"/>
                  <a:ea typeface="Microsoft YaHei"/>
                  <a:cs typeface="Arial"/>
                </a:rPr>
                <a:t>50 km / 100 km 等积网格（严格嵌套）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8248650" y="3200400"/>
              <a:ext cx="3505200" cy="819150"/>
            </a:xfrm>
            <a:prstGeom prst="roundRect">
              <a:avLst>
                <a:gd name="adj" fmla="val 4651"/>
              </a:avLst>
            </a:prstGeom>
            <a:solidFill>
              <a:srgbClr val="F4F8F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410575" y="3300412"/>
              <a:ext cx="833497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6 + 4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424862" y="3707606"/>
              <a:ext cx="284642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6B7C"/>
                  </a:solidFill>
                  <a:latin typeface="Arial"/>
                  <a:ea typeface="Microsoft YaHei"/>
                  <a:cs typeface="Arial"/>
                </a:rPr>
                <a:t>四类群通用核心性状 + 三类群扩展性状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248650" y="4133850"/>
              <a:ext cx="3505200" cy="819150"/>
            </a:xfrm>
            <a:prstGeom prst="roundRect">
              <a:avLst>
                <a:gd name="adj" fmla="val 4651"/>
              </a:avLst>
            </a:prstGeom>
            <a:solidFill>
              <a:srgbClr val="F4F8F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410575" y="4233862"/>
              <a:ext cx="436697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33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424862" y="4641056"/>
              <a:ext cx="332291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6B7C"/>
                  </a:solidFill>
                  <a:latin typeface="Arial"/>
                  <a:ea typeface="Microsoft YaHei"/>
                  <a:cs typeface="Arial"/>
                </a:rPr>
                <a:t>科（恒温 21 / 变温 12）——本研究的重复单元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248650" y="5067300"/>
              <a:ext cx="3505200" cy="609600"/>
            </a:xfrm>
            <a:prstGeom prst="roundRect">
              <a:avLst>
                <a:gd name="adj" fmla="val 6250"/>
              </a:avLst>
            </a:prstGeom>
            <a:solidFill>
              <a:srgbClr val="FFF8F2"/>
            </a:solidFill>
            <a:ln w="9525">
              <a:solidFill>
                <a:srgbClr val="F0D4BC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425815" y="5201602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8C2D04"/>
                  </a:solidFill>
                  <a:latin typeface="Arial"/>
                  <a:ea typeface="Microsoft YaHei"/>
                  <a:cs typeface="Arial"/>
                </a:rPr>
                <a:t>性状统一骨架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425815" y="5430202"/>
              <a:ext cx="32547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6B7C"/>
                  </a:solidFill>
                  <a:latin typeface="Arial"/>
                  <a:ea typeface="Microsoft YaHei"/>
                  <a:cs typeface="Arial"/>
                </a:rPr>
                <a:t>TetrapodTraits v2.0.1（四纲同一分类系统）</a:t>
              </a:r>
            </a:p>
          </p:txBody>
        </p:sp>
      </p:grpSp>
      <p:sp>
        <p:nvSpPr>
          <p:cNvPr id="26" name="Rectangle 26"/>
          <p:cNvSpPr/>
          <p:nvPr/>
        </p:nvSpPr>
        <p:spPr>
          <a:xfrm>
            <a:off x="438150" y="5829300"/>
            <a:ext cx="11315700" cy="438150"/>
          </a:xfrm>
          <a:prstGeom prst="roundRect">
            <a:avLst>
              <a:gd name="adj" fmla="val 8696"/>
            </a:avLst>
          </a:prstGeom>
          <a:solidFill>
            <a:srgbClr val="F4F8FC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613410" y="5975985"/>
            <a:ext cx="877595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分布数据：IUCN 范围图（两栖/爬行/哺乳）+ BirdLife 衍生网格矩阵（鸟类）；观测群落来自 GBIF 458 万条记录</a:t>
            </a:r>
          </a:p>
        </p:txBody>
      </p:sp>
      <p:sp>
        <p:nvSpPr>
          <p:cNvPr id="28" name="Line 28"/>
          <p:cNvSpPr/>
          <p:nvPr/>
        </p:nvSpPr>
        <p:spPr>
          <a:xfrm>
            <a:off x="381000" y="6400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369570" y="6551295"/>
            <a:ext cx="263861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地图基于自然资源部标准地图 GS(2023)2767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522821" y="653510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4239863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四个决定结论成败的方法选择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567628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每一个都能单独改变结论的方向或量级——后面会逐一给出证据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438150" y="1352550"/>
            <a:ext cx="11315700" cy="4857750"/>
            <a:chOff x="438150" y="1352550"/>
            <a:chExt cx="11315700" cy="4857750"/>
          </a:xfrm>
        </p:grpSpPr>
        <p:sp>
          <p:nvSpPr>
            <p:cNvPr id="9" name="Rectangle 9"/>
            <p:cNvSpPr/>
            <p:nvPr/>
          </p:nvSpPr>
          <p:spPr>
            <a:xfrm>
              <a:off x="438150" y="1352550"/>
              <a:ext cx="5600700" cy="2362200"/>
            </a:xfrm>
            <a:prstGeom prst="roundRect">
              <a:avLst>
                <a:gd name="adj" fmla="val 1613"/>
              </a:avLst>
            </a:prstGeom>
            <a:solidFill>
              <a:srgbClr val="F7FAFD"/>
            </a:solidFill>
            <a:ln w="9525">
              <a:solidFill>
                <a:srgbClr val="D6E4F0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609600" y="1543050"/>
              <a:ext cx="419100" cy="419100"/>
            </a:xfrm>
            <a:prstGeom prst="ellipse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36842" y="1666875"/>
              <a:ext cx="1646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41095" y="1650682"/>
              <a:ext cx="336927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重复单元 = 科，而非纲或网格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0560" y="2099310"/>
              <a:ext cx="40614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以「纲」为单元只有 4 个重复（恒温 2 / 变温 2）；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70560" y="2366010"/>
              <a:ext cx="35532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以「网格」为单元是伪重复——同一纲的所有格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70560" y="2632710"/>
              <a:ext cx="26593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共用一个物种库与一条性状向量。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0560" y="3013710"/>
              <a:ext cx="320487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本研究：33 个科，纲/目 嵌套随机效应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71512" y="3307556"/>
              <a:ext cx="320790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A6D1F"/>
                  </a:solidFill>
                  <a:latin typeface="Arial"/>
                  <a:ea typeface="Microsoft YaHei"/>
                  <a:cs typeface="Arial"/>
                </a:rPr>
                <a:t>代价：每组只剩 12–21 个重复，检验力有限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153150" y="1352550"/>
              <a:ext cx="5600700" cy="2362200"/>
            </a:xfrm>
            <a:prstGeom prst="roundRect">
              <a:avLst>
                <a:gd name="adj" fmla="val 1613"/>
              </a:avLst>
            </a:prstGeom>
            <a:solidFill>
              <a:srgbClr val="F7FAFD"/>
            </a:solidFill>
            <a:ln w="9525">
              <a:solidFill>
                <a:srgbClr val="D6E4F0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6324600" y="1543050"/>
              <a:ext cx="419100" cy="419100"/>
            </a:xfrm>
            <a:prstGeom prst="ellipse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51842" y="1666875"/>
              <a:ext cx="1646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856095" y="1650682"/>
              <a:ext cx="206616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性状分布的四阶矩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85560" y="2099310"/>
              <a:ext cx="271195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均值</a:t>
              </a:r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 xml:space="preserve">＝方向性过滤 </a:t>
              </a:r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方差</a:t>
              </a:r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＝过滤强度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85560" y="2366010"/>
              <a:ext cx="19583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偏度</a:t>
              </a:r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＝哪一侧尾部被截断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263271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峰度</a:t>
              </a:r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＝生态位填充程度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85560" y="3013710"/>
              <a:ext cx="37109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四者并不冗余：显著比例与主导环境轴均不同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86512" y="3307556"/>
              <a:ext cx="21645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A6D1F"/>
                  </a:solidFill>
                  <a:latin typeface="Arial"/>
                  <a:ea typeface="Microsoft YaHei"/>
                  <a:cs typeface="Arial"/>
                </a:rPr>
                <a:t>偏度在变温类群比方差更敏感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8150" y="3848100"/>
              <a:ext cx="5600700" cy="2362200"/>
            </a:xfrm>
            <a:prstGeom prst="roundRect">
              <a:avLst>
                <a:gd name="adj" fmla="val 1613"/>
              </a:avLst>
            </a:prstGeom>
            <a:solidFill>
              <a:srgbClr val="FFF8F2"/>
            </a:solidFill>
            <a:ln w="9525">
              <a:solidFill>
                <a:srgbClr val="F0D4BC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609600" y="4038600"/>
              <a:ext cx="419100" cy="419100"/>
            </a:xfrm>
            <a:prstGeom prst="ellipse">
              <a:avLst/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36842" y="4162425"/>
              <a:ext cx="1646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41095" y="4146232"/>
              <a:ext cx="206616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8C2D04"/>
                  </a:solidFill>
                  <a:latin typeface="Arial"/>
                  <a:ea typeface="Microsoft YaHei"/>
                  <a:cs typeface="Arial"/>
                </a:rPr>
                <a:t>零模型的抽样权重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70560" y="4594860"/>
              <a:ext cx="37109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等概率抽样把狭域特有种与广布种视为等可能，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0560" y="4861560"/>
              <a:ext cx="338670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 xml:space="preserve">而真实群落由广布种主导 → </a:t>
              </a:r>
              <a:r>
                <a:rPr lang="zh-CN" sz="1200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虚假的功能聚集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70560" y="5242560"/>
              <a:ext cx="315887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本研究：按物种占据网格数加权（主）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1512" y="5536406"/>
              <a:ext cx="226314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A6D1F"/>
                  </a:solidFill>
                  <a:latin typeface="Arial"/>
                  <a:ea typeface="Microsoft YaHei"/>
                  <a:cs typeface="Arial"/>
                </a:rPr>
                <a:t>修正后聚集量级下调 30–50%，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71512" y="5803106"/>
              <a:ext cx="21645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A6D1F"/>
                  </a:solidFill>
                  <a:latin typeface="Arial"/>
                  <a:ea typeface="Microsoft YaHei"/>
                  <a:cs typeface="Arial"/>
                </a:rPr>
                <a:t>两栖类的「超离散」完全消失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153150" y="3848100"/>
              <a:ext cx="5600700" cy="2362200"/>
            </a:xfrm>
            <a:prstGeom prst="roundRect">
              <a:avLst>
                <a:gd name="adj" fmla="val 1613"/>
              </a:avLst>
            </a:prstGeom>
            <a:solidFill>
              <a:srgbClr val="FFF8F2"/>
            </a:solidFill>
            <a:ln w="9525">
              <a:solidFill>
                <a:srgbClr val="F0D4BC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6324600" y="4038600"/>
              <a:ext cx="419100" cy="419100"/>
            </a:xfrm>
            <a:prstGeom prst="ellipse">
              <a:avLst/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51842" y="4162425"/>
              <a:ext cx="1646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56095" y="4146232"/>
              <a:ext cx="197760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8C2D04"/>
                  </a:solidFill>
                  <a:latin typeface="Arial"/>
                  <a:ea typeface="Microsoft YaHei"/>
                  <a:cs typeface="Arial"/>
                </a:rPr>
                <a:t>第四角 max test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385560" y="4594860"/>
              <a:ext cx="34480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所有样方共用同一条性状向量 → CWM 直接对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85560" y="4861560"/>
              <a:ext cx="24841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环境回归会严重膨胀第一类错误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385560" y="5242560"/>
              <a:ext cx="37109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本研究：同时置换样方端与物种端，取 max p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386512" y="5536406"/>
              <a:ext cx="22549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A6D1F"/>
                  </a:solidFill>
                  <a:latin typeface="Arial"/>
                  <a:ea typeface="Microsoft YaHei"/>
                  <a:cs typeface="Arial"/>
                </a:rPr>
                <a:t>朴素回归多判 1.27–2.72 倍，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86512" y="5803106"/>
              <a:ext cx="19345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8A6D1F"/>
                  </a:solidFill>
                  <a:latin typeface="Arial"/>
                  <a:ea typeface="Microsoft YaHei"/>
                  <a:cs typeface="Arial"/>
                </a:rPr>
                <a:t>21–54% 的具体结论被推翻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11522821" y="653510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33425" y="2090738"/>
            <a:ext cx="1892356" cy="198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0" b="1" dirty="0">
                <a:solidFill>
                  <a:srgbClr val="4FA3E3">
                    <a:alphaMod val="35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13435" y="3723322"/>
            <a:ext cx="3791093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结果：七条证据</a:t>
            </a:r>
          </a:p>
        </p:txBody>
      </p:sp>
      <p:sp>
        <p:nvSpPr>
          <p:cNvPr id="6" name="Line 6"/>
          <p:cNvSpPr/>
          <p:nvPr/>
        </p:nvSpPr>
        <p:spPr>
          <a:xfrm>
            <a:off x="876300" y="4476750"/>
            <a:ext cx="3124200" cy="9525"/>
          </a:xfrm>
          <a:custGeom>
            <a:avLst/>
            <a:gdLst/>
            <a:ahLst/>
            <a:cxnLst/>
            <a:rect l="l" t="t" r="r" b="b"/>
            <a:pathLst>
              <a:path w="3124200" h="9525">
                <a:moveTo>
                  <a:pt x="0" y="0"/>
                </a:moveTo>
                <a:lnTo>
                  <a:pt x="3124200" y="0"/>
                </a:lnTo>
              </a:path>
            </a:pathLst>
          </a:custGeom>
          <a:noFill/>
          <a:ln w="28575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838200" y="4791075"/>
            <a:ext cx="37623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FCBEA"/>
                </a:solidFill>
                <a:latin typeface="Arial"/>
                <a:ea typeface="Microsoft YaHei"/>
                <a:cs typeface="Arial"/>
              </a:rPr>
              <a:t>包括两条与我们自己的预期相反的结果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5528024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功能结构：三个纲聚集，两栖类无信号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596765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SES &lt; 0 = 群落性状比同丰富度随机组合更相似（环境过滤主导）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303" y="1257300"/>
            <a:ext cx="6062894" cy="3810000"/>
          </a:xfrm>
          <a:prstGeom prst="rect">
            <a:avLst/>
          </a:prstGeom>
        </p:spPr>
      </p:pic>
      <p:sp>
        <p:nvSpPr>
          <p:cNvPr id="10" name="Rectangle 10"/>
          <p:cNvSpPr/>
          <p:nvPr/>
        </p:nvSpPr>
        <p:spPr>
          <a:xfrm>
            <a:off x="8743950" y="1257300"/>
            <a:ext cx="3067050" cy="4476750"/>
          </a:xfrm>
          <a:prstGeom prst="roundRect">
            <a:avLst>
              <a:gd name="adj" fmla="val 1242"/>
            </a:avLst>
          </a:prstGeom>
          <a:solidFill>
            <a:srgbClr val="F7FAFD"/>
          </a:solidFill>
          <a:ln w="9525">
            <a:solidFill>
              <a:srgbClr val="D6E4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8743950" y="1257300"/>
            <a:ext cx="47625" cy="44767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973502" y="1446371"/>
            <a:ext cx="47325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要点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76360" y="1832610"/>
            <a:ext cx="247535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占据加权零模型下的平均 SES：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975408" y="2186464"/>
            <a:ext cx="10197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B2182B"/>
                </a:solidFill>
                <a:latin typeface="Arial"/>
                <a:ea typeface="Microsoft YaHei"/>
                <a:cs typeface="Arial"/>
              </a:rPr>
              <a:t>鸟类 −0.84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975408" y="2472214"/>
            <a:ext cx="121530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E8A33D"/>
                </a:solidFill>
                <a:latin typeface="Arial"/>
                <a:ea typeface="Microsoft YaHei"/>
                <a:cs typeface="Arial"/>
              </a:rPr>
              <a:t>哺乳类 −0.90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975408" y="2757964"/>
            <a:ext cx="121530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2E6E8E"/>
                </a:solidFill>
                <a:latin typeface="Arial"/>
                <a:ea typeface="Microsoft YaHei"/>
                <a:cs typeface="Arial"/>
              </a:rPr>
              <a:t>爬行类 −1.13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975408" y="3043714"/>
            <a:ext cx="238845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4C9A6E"/>
                </a:solidFill>
                <a:latin typeface="Arial"/>
                <a:ea typeface="Microsoft YaHei"/>
                <a:cs typeface="Arial"/>
              </a:rPr>
              <a:t>两栖类 +0.08（与零无异）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77312" y="351710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聚集在寒冷干旱的西部与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977312" y="37457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北部最强，南方减弱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977312" y="4183856"/>
            <a:ext cx="17537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8C2D04"/>
                </a:solidFill>
                <a:latin typeface="Arial"/>
                <a:ea typeface="Microsoft YaHei"/>
                <a:cs typeface="Arial"/>
              </a:rPr>
              <a:t>两栖类的「超离散」是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977312" y="4412456"/>
            <a:ext cx="19263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8C2D04"/>
                </a:solidFill>
                <a:latin typeface="Arial"/>
                <a:ea typeface="Microsoft YaHei"/>
                <a:cs typeface="Arial"/>
              </a:rPr>
              <a:t>零模型与性状插补的假象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978265" y="4877752"/>
            <a:ext cx="18438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6B7C"/>
                </a:solidFill>
                <a:latin typeface="Arial"/>
                <a:ea typeface="Microsoft YaHei"/>
                <a:cs typeface="Arial"/>
              </a:rPr>
              <a:t>两条独立路径（换零模型 /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978265" y="5087302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6B7C"/>
                </a:solidFill>
                <a:latin typeface="Arial"/>
                <a:ea typeface="Microsoft YaHei"/>
                <a:cs typeface="Arial"/>
              </a:rPr>
              <a:t>换实测性状）都指向同一结论</a:t>
            </a:r>
          </a:p>
        </p:txBody>
      </p:sp>
      <p:sp>
        <p:nvSpPr>
          <p:cNvPr id="24" name="Line 24"/>
          <p:cNvSpPr/>
          <p:nvPr/>
        </p:nvSpPr>
        <p:spPr>
          <a:xfrm>
            <a:off x="381000" y="6400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369570" y="6551295"/>
            <a:ext cx="238229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999 次零模型；两套零模型结果均已输出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522821" y="653510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4239863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核心检验：变温类群耦合更强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596765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以 33 个科为重复单元，恒温 21 / 变温 12；纲/目 嵌套随机效应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608" y="1257300"/>
            <a:ext cx="4996283" cy="4095750"/>
          </a:xfrm>
          <a:prstGeom prst="rect">
            <a:avLst/>
          </a:prstGeom>
        </p:spPr>
      </p:pic>
      <p:sp>
        <p:nvSpPr>
          <p:cNvPr id="10" name="Rectangle 10"/>
          <p:cNvSpPr/>
          <p:nvPr/>
        </p:nvSpPr>
        <p:spPr>
          <a:xfrm>
            <a:off x="8743950" y="1257300"/>
            <a:ext cx="3067050" cy="4476750"/>
          </a:xfrm>
          <a:prstGeom prst="roundRect">
            <a:avLst>
              <a:gd name="adj" fmla="val 1242"/>
            </a:avLst>
          </a:prstGeom>
          <a:solidFill>
            <a:srgbClr val="F7FAFD"/>
          </a:solidFill>
          <a:ln w="9525">
            <a:solidFill>
              <a:srgbClr val="D6E4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8743950" y="1257300"/>
            <a:ext cx="47625" cy="44767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973502" y="1446371"/>
            <a:ext cx="47325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要点</a:t>
            </a:r>
          </a:p>
        </p:txBody>
      </p:sp>
      <p:sp>
        <p:nvSpPr>
          <p:cNvPr id="13" name="Rectangle 13"/>
          <p:cNvSpPr/>
          <p:nvPr/>
        </p:nvSpPr>
        <p:spPr>
          <a:xfrm>
            <a:off x="8991600" y="1790700"/>
            <a:ext cx="2571750" cy="723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FDDEA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9130665" y="194405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6B7C"/>
                </a:solidFill>
                <a:latin typeface="Arial"/>
                <a:ea typeface="Microsoft YaHei"/>
                <a:cs typeface="Arial"/>
              </a:rPr>
              <a:t>总体耦合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19235" y="2170748"/>
            <a:ext cx="871883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1.72×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367962" y="2259806"/>
            <a:ext cx="7597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6B7C"/>
                </a:solidFill>
                <a:latin typeface="Arial"/>
                <a:ea typeface="Microsoft YaHei"/>
                <a:cs typeface="Arial"/>
              </a:rPr>
              <a:t>P = 0.019</a:t>
            </a:r>
          </a:p>
        </p:txBody>
      </p:sp>
      <p:sp>
        <p:nvSpPr>
          <p:cNvPr id="17" name="Rectangle 17"/>
          <p:cNvSpPr/>
          <p:nvPr/>
        </p:nvSpPr>
        <p:spPr>
          <a:xfrm>
            <a:off x="8991600" y="2628900"/>
            <a:ext cx="2571750" cy="723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FDDEA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9130665" y="278225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6B7C"/>
                </a:solidFill>
                <a:latin typeface="Arial"/>
                <a:ea typeface="Microsoft YaHei"/>
                <a:cs typeface="Arial"/>
              </a:rPr>
              <a:t>热能量轴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119235" y="3008948"/>
            <a:ext cx="871883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0066CC"/>
                </a:solidFill>
                <a:latin typeface="Arial"/>
                <a:ea typeface="Microsoft YaHei"/>
                <a:cs typeface="Arial"/>
              </a:rPr>
              <a:t>1.79×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367962" y="3098006"/>
            <a:ext cx="7597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6B7C"/>
                </a:solidFill>
                <a:latin typeface="Arial"/>
                <a:ea typeface="Microsoft YaHei"/>
                <a:cs typeface="Arial"/>
              </a:rPr>
              <a:t>P = 0.017</a:t>
            </a:r>
          </a:p>
        </p:txBody>
      </p:sp>
      <p:sp>
        <p:nvSpPr>
          <p:cNvPr id="21" name="Rectangle 21"/>
          <p:cNvSpPr/>
          <p:nvPr/>
        </p:nvSpPr>
        <p:spPr>
          <a:xfrm>
            <a:off x="8991600" y="3467100"/>
            <a:ext cx="2571750" cy="723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FDDEA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9130665" y="36204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6B7C"/>
                </a:solidFill>
                <a:latin typeface="Arial"/>
                <a:ea typeface="Microsoft YaHei"/>
                <a:cs typeface="Arial"/>
              </a:rPr>
              <a:t>人为压力轴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119235" y="3847148"/>
            <a:ext cx="871883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CC0000"/>
                </a:solidFill>
                <a:latin typeface="Arial"/>
                <a:ea typeface="Microsoft YaHei"/>
                <a:cs typeface="Arial"/>
              </a:rPr>
              <a:t>1.95×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367962" y="3936206"/>
            <a:ext cx="7597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6B7C"/>
                </a:solidFill>
                <a:latin typeface="Arial"/>
                <a:ea typeface="Microsoft YaHei"/>
                <a:cs typeface="Arial"/>
              </a:rPr>
              <a:t>P = 0.005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977312" y="4431506"/>
            <a:ext cx="20906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30 个「响应 × 环境轴」对比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977312" y="4660106"/>
            <a:ext cx="11869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30/30</a:t>
            </a:r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 xml:space="preserve"> 方向一致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978265" y="5049202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保守的混合模型仅在热能量轴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978265" y="5258752"/>
            <a:ext cx="20355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显著——体温模式与纲近乎共线</a:t>
            </a:r>
          </a:p>
        </p:txBody>
      </p:sp>
      <p:sp>
        <p:nvSpPr>
          <p:cNvPr id="29" name="Line 29"/>
          <p:cNvSpPr/>
          <p:nvPr/>
        </p:nvSpPr>
        <p:spPr>
          <a:xfrm>
            <a:off x="381000" y="6400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369570" y="6551295"/>
            <a:ext cx="375589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空间自回归模型的标准化效应量；Wilcoxon 与嵌套混合模型并报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438477" y="653510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327374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人为过滤：与预期相反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567628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原假设：体型大、生活史慢的恒温类群应更敏感——被数据否定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632" y="1257300"/>
            <a:ext cx="6246236" cy="4095750"/>
          </a:xfrm>
          <a:prstGeom prst="rect">
            <a:avLst/>
          </a:prstGeom>
        </p:spPr>
      </p:pic>
      <p:sp>
        <p:nvSpPr>
          <p:cNvPr id="10" name="Rectangle 10"/>
          <p:cNvSpPr/>
          <p:nvPr/>
        </p:nvSpPr>
        <p:spPr>
          <a:xfrm>
            <a:off x="8743950" y="1257300"/>
            <a:ext cx="3067050" cy="4476750"/>
          </a:xfrm>
          <a:prstGeom prst="roundRect">
            <a:avLst>
              <a:gd name="adj" fmla="val 1242"/>
            </a:avLst>
          </a:prstGeom>
          <a:solidFill>
            <a:srgbClr val="F7FAFD"/>
          </a:solidFill>
          <a:ln w="9525">
            <a:solidFill>
              <a:srgbClr val="D6E4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8743950" y="1257300"/>
            <a:ext cx="47625" cy="44767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973502" y="1446371"/>
            <a:ext cx="47325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要点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77312" y="18216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人为压力轴的耦合强度：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973502" y="2132171"/>
            <a:ext cx="2614817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B2182B"/>
                </a:solidFill>
                <a:latin typeface="Arial"/>
                <a:ea typeface="Microsoft YaHei"/>
                <a:cs typeface="Arial"/>
              </a:rPr>
              <a:t>变温 0.073 vs 恒温 0.038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966835" y="2380298"/>
            <a:ext cx="2681059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CC0000"/>
                </a:solidFill>
                <a:latin typeface="Arial"/>
                <a:ea typeface="Microsoft YaHei"/>
                <a:cs typeface="Arial"/>
              </a:rPr>
              <a:t>1.95 倍 P = 0.0047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977312" y="2945606"/>
            <a:ext cx="204132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 xml:space="preserve">留一纲检验 </a:t>
            </a:r>
            <a:r>
              <a:rPr lang="zh-CN" sz="1125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4/5</a:t>
            </a:r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 xml:space="preserve"> 情景显著，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977312" y="31742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是最稳健的单项结果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76360" y="3604260"/>
            <a:ext cx="398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解释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977312" y="391715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内温性提供的生理独立性同时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977312" y="414575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缓冲了自然的与人为的梯度；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977312" y="4374356"/>
            <a:ext cx="23288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变温动物依赖微生境的热与水，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977312" y="460295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而土地利用改变的正是微生境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978265" y="5087302"/>
            <a:ext cx="23269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范围图对细尺度土地利用不敏感，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978265" y="5296852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故此处的人为效应是保守下界</a:t>
            </a:r>
          </a:p>
        </p:txBody>
      </p:sp>
      <p:sp>
        <p:nvSpPr>
          <p:cNvPr id="25" name="Line 25"/>
          <p:cNvSpPr/>
          <p:nvPr/>
        </p:nvSpPr>
        <p:spPr>
          <a:xfrm>
            <a:off x="381000" y="6400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369570" y="6551295"/>
            <a:ext cx="217855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50 km 网格；GAM 平滑与 95% 置信带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438477" y="653510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4883944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功能冗余：一条不依赖模型的证据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380319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相邻网格间，物种换掉了——功能变了吗？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62" y="1257300"/>
            <a:ext cx="4964977" cy="4476750"/>
          </a:xfrm>
          <a:prstGeom prst="rect">
            <a:avLst/>
          </a:prstGeom>
        </p:spPr>
      </p:pic>
      <p:sp>
        <p:nvSpPr>
          <p:cNvPr id="10" name="Rectangle 10"/>
          <p:cNvSpPr/>
          <p:nvPr/>
        </p:nvSpPr>
        <p:spPr>
          <a:xfrm>
            <a:off x="8743950" y="1257300"/>
            <a:ext cx="3067050" cy="4476750"/>
          </a:xfrm>
          <a:prstGeom prst="roundRect">
            <a:avLst>
              <a:gd name="adj" fmla="val 1242"/>
            </a:avLst>
          </a:prstGeom>
          <a:solidFill>
            <a:srgbClr val="F7FAFD"/>
          </a:solidFill>
          <a:ln w="9525">
            <a:solidFill>
              <a:srgbClr val="D6E4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8743950" y="1257300"/>
            <a:ext cx="47625" cy="44767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973502" y="1446371"/>
            <a:ext cx="47325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要点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77312" y="1821656"/>
            <a:ext cx="246852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功能 β / 分类 β（相邻网格对）：</a:t>
            </a:r>
          </a:p>
        </p:txBody>
      </p:sp>
      <p:sp>
        <p:nvSpPr>
          <p:cNvPr id="14" name="Rectangle 14"/>
          <p:cNvSpPr/>
          <p:nvPr/>
        </p:nvSpPr>
        <p:spPr>
          <a:xfrm>
            <a:off x="8991600" y="2133600"/>
            <a:ext cx="2533650" cy="32385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FDDEA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9108758" y="2224564"/>
            <a:ext cx="91224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B2182B"/>
                </a:solidFill>
                <a:latin typeface="Arial"/>
                <a:ea typeface="Microsoft YaHei"/>
                <a:cs typeface="Arial"/>
              </a:rPr>
              <a:t>鸟类 0.19</a:t>
            </a:r>
          </a:p>
        </p:txBody>
      </p:sp>
      <p:sp>
        <p:nvSpPr>
          <p:cNvPr id="16" name="Rectangle 16"/>
          <p:cNvSpPr/>
          <p:nvPr/>
        </p:nvSpPr>
        <p:spPr>
          <a:xfrm>
            <a:off x="8991600" y="2514600"/>
            <a:ext cx="2533650" cy="32385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FDDEA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9108758" y="2605564"/>
            <a:ext cx="110776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E8A33D"/>
                </a:solidFill>
                <a:latin typeface="Arial"/>
                <a:ea typeface="Microsoft YaHei"/>
                <a:cs typeface="Arial"/>
              </a:rPr>
              <a:t>哺乳类 0.34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991600" y="2895600"/>
            <a:ext cx="2533650" cy="32385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FDDEA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9108758" y="2986564"/>
            <a:ext cx="110776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2E6E8E"/>
                </a:solidFill>
                <a:latin typeface="Arial"/>
                <a:ea typeface="Microsoft YaHei"/>
                <a:cs typeface="Arial"/>
              </a:rPr>
              <a:t>爬行类 0.66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977312" y="345995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鸟类的功能组成周转只有物种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977312" y="3688556"/>
            <a:ext cx="20084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 xml:space="preserve">周转的 </a:t>
            </a:r>
            <a:r>
              <a:rPr lang="zh-CN" sz="1125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19%</a:t>
            </a:r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——高度功能冗余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977312" y="406955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爬行类几乎与物种同步改变，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977312" y="4298156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缺乏这种冗余缓冲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977312" y="4736306"/>
            <a:ext cx="244387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066CC"/>
                </a:solidFill>
                <a:latin typeface="Arial"/>
                <a:ea typeface="Microsoft YaHei"/>
                <a:cs typeface="Arial"/>
              </a:rPr>
              <a:t>不依赖任何回归模型或效应量，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977312" y="4964906"/>
            <a:ext cx="17537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066CC"/>
                </a:solidFill>
                <a:latin typeface="Arial"/>
                <a:ea typeface="Microsoft YaHei"/>
                <a:cs typeface="Arial"/>
              </a:rPr>
              <a:t>因而不受回归衰减影响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978265" y="5373052"/>
            <a:ext cx="195891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K = 10 / 20 / 30 下排序不变</a:t>
            </a:r>
          </a:p>
        </p:txBody>
      </p:sp>
      <p:sp>
        <p:nvSpPr>
          <p:cNvPr id="27" name="Line 27"/>
          <p:cNvSpPr/>
          <p:nvPr/>
        </p:nvSpPr>
        <p:spPr>
          <a:xfrm>
            <a:off x="381000" y="6400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369570" y="6551295"/>
            <a:ext cx="367045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7,344 对相邻网格；Baselga (2010) 分解；999 次 bootstrap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438477" y="653510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3595783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过滤器的身份随地理变化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5051917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不只是强度不同——被过滤的「是哪个性状」本身就在变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745" y="1257300"/>
            <a:ext cx="6136010" cy="4191000"/>
          </a:xfrm>
          <a:prstGeom prst="rect">
            <a:avLst/>
          </a:prstGeom>
        </p:spPr>
      </p:pic>
      <p:sp>
        <p:nvSpPr>
          <p:cNvPr id="10" name="Rectangle 10"/>
          <p:cNvSpPr/>
          <p:nvPr/>
        </p:nvSpPr>
        <p:spPr>
          <a:xfrm>
            <a:off x="8743950" y="1257300"/>
            <a:ext cx="3067050" cy="4476750"/>
          </a:xfrm>
          <a:prstGeom prst="roundRect">
            <a:avLst>
              <a:gd name="adj" fmla="val 1242"/>
            </a:avLst>
          </a:prstGeom>
          <a:solidFill>
            <a:srgbClr val="F7FAFD"/>
          </a:solidFill>
          <a:ln w="9525">
            <a:solidFill>
              <a:srgbClr val="D6E4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8743950" y="1257300"/>
            <a:ext cx="47625" cy="44767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973502" y="1446371"/>
            <a:ext cx="47325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要点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77312" y="1821656"/>
            <a:ext cx="21892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每格取 |SES 均值| 最大的性状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977312" y="20502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作为「主导被过滤性状」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976360" y="246126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恒温类群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977312" y="275510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几乎处处由</a:t>
            </a:r>
            <a:r>
              <a:rPr lang="zh-CN" sz="1125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分布范围</a:t>
            </a:r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主导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977312" y="2983706"/>
            <a:ext cx="149090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（鸟 94%、兽 78%）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76360" y="3394710"/>
            <a:ext cx="13186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爬行类一分为二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977312" y="3688556"/>
            <a:ext cx="199203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北方与东北：</a:t>
            </a:r>
            <a:r>
              <a:rPr lang="zh-CN" sz="1125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生境宽度</a:t>
            </a:r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 xml:space="preserve"> 44%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977312" y="3917156"/>
            <a:ext cx="14991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南方：分布范围 42%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977312" y="4336256"/>
            <a:ext cx="20988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066CC"/>
                </a:solidFill>
                <a:latin typeface="Arial"/>
                <a:ea typeface="Microsoft YaHei"/>
                <a:cs typeface="Arial"/>
              </a:rPr>
              <a:t>沿热能量梯度，过滤器身份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977312" y="456485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066CC"/>
                </a:solidFill>
                <a:latin typeface="Arial"/>
                <a:ea typeface="Microsoft YaHei"/>
                <a:cs typeface="Arial"/>
              </a:rPr>
              <a:t>随气候带切换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977312" y="4964906"/>
            <a:ext cx="23288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哺乳类在青藏高原切换为体长；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977312" y="519350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鸟类在最暖端切换为体型</a:t>
            </a:r>
          </a:p>
        </p:txBody>
      </p:sp>
      <p:sp>
        <p:nvSpPr>
          <p:cNvPr id="25" name="Line 25"/>
          <p:cNvSpPr/>
          <p:nvPr/>
        </p:nvSpPr>
        <p:spPr>
          <a:xfrm>
            <a:off x="381000" y="6400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369570" y="6551295"/>
            <a:ext cx="225742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此前无人展示过过滤器身份的地理变化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438477" y="653510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295170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功能分区与胡焕庸线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4635675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仅用性状结构做无监督聚类——它自己找到了那条线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745" y="1257300"/>
            <a:ext cx="6136010" cy="4191000"/>
          </a:xfrm>
          <a:prstGeom prst="rect">
            <a:avLst/>
          </a:prstGeom>
        </p:spPr>
      </p:pic>
      <p:sp>
        <p:nvSpPr>
          <p:cNvPr id="10" name="Rectangle 10"/>
          <p:cNvSpPr/>
          <p:nvPr/>
        </p:nvSpPr>
        <p:spPr>
          <a:xfrm>
            <a:off x="8743950" y="1257300"/>
            <a:ext cx="3067050" cy="4476750"/>
          </a:xfrm>
          <a:prstGeom prst="roundRect">
            <a:avLst>
              <a:gd name="adj" fmla="val 1242"/>
            </a:avLst>
          </a:prstGeom>
          <a:solidFill>
            <a:srgbClr val="F7FAFD"/>
          </a:solidFill>
          <a:ln w="9525">
            <a:solidFill>
              <a:srgbClr val="D6E4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8743950" y="1257300"/>
            <a:ext cx="47625" cy="44767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973502" y="1446371"/>
            <a:ext cx="47325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要点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77312" y="1821656"/>
            <a:ext cx="270676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对每格 12 维 SES 剖面做 k-means，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977312" y="20502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簇数由轮廓系数自动选择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976360" y="2461260"/>
            <a:ext cx="205473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三个纲各自独立地把中国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976360" y="2708910"/>
            <a:ext cx="215594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划成西北–东南两大功能区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977312" y="3136106"/>
            <a:ext cx="16716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与胡焕庸线的一致率：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75408" y="3424714"/>
            <a:ext cx="272084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B2182B"/>
                </a:solidFill>
                <a:latin typeface="Arial"/>
                <a:ea typeface="Microsoft YaHei"/>
                <a:cs typeface="Arial"/>
              </a:rPr>
              <a:t>鸟 79.7% 爬行 76.8% 兽 74.5%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977312" y="3726656"/>
            <a:ext cx="162234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Cohen κ = 0.50–0.56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977312" y="4164806"/>
            <a:ext cx="17537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066CC"/>
                </a:solidFill>
                <a:latin typeface="Arial"/>
                <a:ea typeface="Microsoft YaHei"/>
                <a:cs typeface="Arial"/>
              </a:rPr>
              <a:t>该线未进入任何输入，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977312" y="4393406"/>
            <a:ext cx="17537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066CC"/>
                </a:solidFill>
                <a:latin typeface="Arial"/>
                <a:ea typeface="Microsoft YaHei"/>
                <a:cs typeface="Arial"/>
              </a:rPr>
              <a:t>因此是真正的外部验证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978265" y="4820602"/>
            <a:ext cx="20355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属中等吻合而非重合——西南段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978265" y="5030152"/>
            <a:ext cx="21736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功能边界偏东南；哺乳类另分出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978265" y="523970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青藏高原为独立第三区</a:t>
            </a:r>
          </a:p>
        </p:txBody>
      </p:sp>
      <p:sp>
        <p:nvSpPr>
          <p:cNvPr id="25" name="Line 25"/>
          <p:cNvSpPr/>
          <p:nvPr/>
        </p:nvSpPr>
        <p:spPr>
          <a:xfrm>
            <a:off x="381000" y="6400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369570" y="6551295"/>
            <a:ext cx="18039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虚线为胡焕庸线（黑河–腾冲）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438477" y="653510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3595783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保护空缺与保护地有效性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7382875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高性状多样性 + 零保护覆盖 = 保护空缺；倾向匹配比较回答「保护地是否有效」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456" y="1257300"/>
            <a:ext cx="3932588" cy="4191000"/>
          </a:xfrm>
          <a:prstGeom prst="rect">
            <a:avLst/>
          </a:prstGeom>
        </p:spPr>
      </p:pic>
      <p:sp>
        <p:nvSpPr>
          <p:cNvPr id="10" name="Rectangle 10"/>
          <p:cNvSpPr/>
          <p:nvPr/>
        </p:nvSpPr>
        <p:spPr>
          <a:xfrm>
            <a:off x="8743950" y="1257300"/>
            <a:ext cx="3067050" cy="4476750"/>
          </a:xfrm>
          <a:prstGeom prst="roundRect">
            <a:avLst>
              <a:gd name="adj" fmla="val 1242"/>
            </a:avLst>
          </a:prstGeom>
          <a:solidFill>
            <a:srgbClr val="F7FAFD"/>
          </a:solidFill>
          <a:ln w="9525">
            <a:solidFill>
              <a:srgbClr val="D6E4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8743950" y="1257300"/>
            <a:ext cx="47625" cy="44767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973502" y="1446371"/>
            <a:ext cx="47325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要点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77312" y="18407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保护空缺网格占比：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970645" y="2107882"/>
            <a:ext cx="35210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C0000"/>
                </a:solidFill>
                <a:latin typeface="Arial"/>
                <a:ea typeface="Microsoft YaHei"/>
                <a:cs typeface="Arial"/>
              </a:rPr>
              <a:t>鸟 14.4% 兽 14.0% 爬行 15.5%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977312" y="2469356"/>
            <a:ext cx="19756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 xml:space="preserve">这些网格的保护地覆盖为 </a:t>
            </a:r>
            <a:r>
              <a:rPr lang="zh-CN" sz="1125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0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976360" y="2899410"/>
            <a:ext cx="27356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倾向匹配比较（保护 vs 未保护）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977312" y="321230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已保护网格的功能离散度</a:t>
            </a:r>
            <a:r>
              <a:rPr lang="zh-CN" sz="1125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更高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77312" y="3440906"/>
            <a:ext cx="184415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鸟 +0.18（P = 5×10⁻⁸）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977312" y="3669506"/>
            <a:ext cx="202489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兽 +0.14（P = 1.6×10⁻⁴）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977312" y="4050506"/>
            <a:ext cx="16716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但鸟类物种数反而</a:t>
            </a:r>
            <a:r>
              <a:rPr lang="zh-CN" sz="1125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更低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977312" y="4279106"/>
            <a:ext cx="20084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（−6.5 种，P = 7×10⁻¹¹）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977312" y="4717256"/>
            <a:ext cx="19263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8C2D04"/>
                </a:solidFill>
                <a:latin typeface="Arial"/>
                <a:ea typeface="Microsoft YaHei"/>
                <a:cs typeface="Arial"/>
              </a:rPr>
              <a:t>现有保护地并未系统覆盖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977312" y="4945856"/>
            <a:ext cx="14087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8C2D04"/>
                </a:solidFill>
                <a:latin typeface="Arial"/>
                <a:ea typeface="Microsoft YaHei"/>
                <a:cs typeface="Arial"/>
              </a:rPr>
              <a:t>功能最独特的区域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978265" y="5354002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6B7C"/>
                </a:solidFill>
                <a:latin typeface="Arial"/>
                <a:ea typeface="Microsoft YaHei"/>
                <a:cs typeface="Arial"/>
              </a:rPr>
              <a:t>保护空缺的跨类群重叠很低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978265" y="5563552"/>
            <a:ext cx="17288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6B7C"/>
                </a:solidFill>
                <a:latin typeface="Arial"/>
                <a:ea typeface="Microsoft YaHei"/>
                <a:cs typeface="Arial"/>
              </a:rPr>
              <a:t>（Jaccard 0.18–0.31）</a:t>
            </a:r>
          </a:p>
        </p:txBody>
      </p:sp>
      <p:sp>
        <p:nvSpPr>
          <p:cNvPr id="26" name="Line 26"/>
          <p:cNvSpPr/>
          <p:nvPr/>
        </p:nvSpPr>
        <p:spPr>
          <a:xfrm>
            <a:off x="381000" y="6400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369570" y="6551295"/>
            <a:ext cx="29146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全国自然保护区矢量边界；匹配变量为五个环境轴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438477" y="653510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33425" y="2090738"/>
            <a:ext cx="1892356" cy="198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0" b="1" dirty="0">
                <a:solidFill>
                  <a:srgbClr val="4FA3E3">
                    <a:alphaMod val="35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13435" y="3723322"/>
            <a:ext cx="6436424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我们推翻了自己的哪些结论</a:t>
            </a:r>
          </a:p>
        </p:txBody>
      </p:sp>
      <p:sp>
        <p:nvSpPr>
          <p:cNvPr id="6" name="Line 6"/>
          <p:cNvSpPr/>
          <p:nvPr/>
        </p:nvSpPr>
        <p:spPr>
          <a:xfrm>
            <a:off x="876300" y="4476750"/>
            <a:ext cx="3124200" cy="9525"/>
          </a:xfrm>
          <a:custGeom>
            <a:avLst/>
            <a:gdLst/>
            <a:ahLst/>
            <a:cxnLst/>
            <a:rect l="l" t="t" r="r" b="b"/>
            <a:pathLst>
              <a:path w="3124200" h="9525">
                <a:moveTo>
                  <a:pt x="0" y="0"/>
                </a:moveTo>
                <a:lnTo>
                  <a:pt x="3124200" y="0"/>
                </a:lnTo>
              </a:path>
            </a:pathLst>
          </a:custGeom>
          <a:noFill/>
          <a:ln w="28575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838200" y="4791075"/>
            <a:ext cx="422243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FCBEA"/>
                </a:solidFill>
                <a:latin typeface="Arial"/>
                <a:ea typeface="Microsoft YaHei"/>
                <a:cs typeface="Arial"/>
              </a:rPr>
              <a:t>稳健性检验不是走过场——它改变了三处结论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4239863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三处被自己的检验推翻的结论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FFF0E8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5031105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8C2D04"/>
                </a:solidFill>
                <a:latin typeface="Arial"/>
                <a:ea typeface="Microsoft YaHei"/>
                <a:cs typeface="Arial"/>
              </a:rPr>
              <a:t>这三条如果不做，都会以「显著结果」的形式进入论文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438150" y="1352550"/>
            <a:ext cx="11315700" cy="4591050"/>
            <a:chOff x="438150" y="1352550"/>
            <a:chExt cx="11315700" cy="4591050"/>
          </a:xfrm>
        </p:grpSpPr>
        <p:sp>
          <p:nvSpPr>
            <p:cNvPr id="9" name="Rectangle 9"/>
            <p:cNvSpPr/>
            <p:nvPr/>
          </p:nvSpPr>
          <p:spPr>
            <a:xfrm>
              <a:off x="438150" y="1352550"/>
              <a:ext cx="11315700" cy="1428750"/>
            </a:xfrm>
            <a:prstGeom prst="roundRect">
              <a:avLst>
                <a:gd name="adj" fmla="val 2667"/>
              </a:avLst>
            </a:prstGeom>
            <a:solidFill>
              <a:srgbClr val="FFF8F2"/>
            </a:solidFill>
            <a:ln w="9525">
              <a:solidFill>
                <a:srgbClr val="F0D4BC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38150" y="1352550"/>
              <a:ext cx="47625" cy="1428750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03898" y="1544479"/>
              <a:ext cx="3626728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b="1" dirty="0">
                  <a:solidFill>
                    <a:srgbClr val="8C2D04"/>
                  </a:solidFill>
                  <a:latin typeface="Arial"/>
                  <a:ea typeface="Microsoft YaHei"/>
                  <a:cs typeface="Arial"/>
                </a:rPr>
                <a:t>① 两栖类的「功能超离散」不存在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09612" y="1935956"/>
              <a:ext cx="41444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等概率零模型给出 +1.70，看起来是全文最醒目的发现。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9612" y="2221706"/>
              <a:ext cx="52535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 xml:space="preserve">换成占据加权零模型 → </a:t>
              </a:r>
              <a:r>
                <a:rPr lang="zh-CN" sz="1125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+0.08</a:t>
              </a:r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 xml:space="preserve">；只用实测性状（非插补）重算 → </a:t>
              </a:r>
              <a:r>
                <a:rPr lang="zh-CN" sz="1125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+0.10</a:t>
              </a:r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08660" y="2499360"/>
              <a:ext cx="628726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两条互不依赖的路径都指向：中国两栖类群落无可检出的功能结构。已撤回。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" y="2933700"/>
              <a:ext cx="11315700" cy="1428750"/>
            </a:xfrm>
            <a:prstGeom prst="roundRect">
              <a:avLst>
                <a:gd name="adj" fmla="val 2667"/>
              </a:avLst>
            </a:prstGeom>
            <a:solidFill>
              <a:srgbClr val="FFF8F2"/>
            </a:solidFill>
            <a:ln w="9525">
              <a:solidFill>
                <a:srgbClr val="F0D4BC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" y="2933700"/>
              <a:ext cx="47625" cy="1428750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03898" y="3125629"/>
              <a:ext cx="4351319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b="1" dirty="0">
                  <a:solidFill>
                    <a:srgbClr val="8C2D04"/>
                  </a:solidFill>
                  <a:latin typeface="Arial"/>
                  <a:ea typeface="Microsoft YaHei"/>
                  <a:cs typeface="Arial"/>
                </a:rPr>
                <a:t>② 「范围图低估人为效应」只在鸟类成立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9612" y="3517106"/>
              <a:ext cx="565606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观测群落的人为效应比范围图大 6 倍——但有记录的网格本身人类压力就更高。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612" y="3802856"/>
              <a:ext cx="628864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在</a:t>
              </a:r>
              <a:r>
                <a:rPr lang="zh-CN" sz="1125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同一批网格</a:t>
              </a:r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上重跑范围图模型：鸟类效应仍只有 0.017（观测 0.104），对照通过。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08660" y="4080510"/>
              <a:ext cx="657249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但兽/爬行/两栖只有 163–170 个可用网格，两种数据源下都不稳定，不作推广。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38150" y="4514850"/>
              <a:ext cx="11315700" cy="1428750"/>
            </a:xfrm>
            <a:prstGeom prst="roundRect">
              <a:avLst>
                <a:gd name="adj" fmla="val 2667"/>
              </a:avLst>
            </a:prstGeom>
            <a:solidFill>
              <a:srgbClr val="FFF8F2"/>
            </a:solidFill>
            <a:ln w="9525">
              <a:solidFill>
                <a:srgbClr val="F0D4BC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38150" y="4514850"/>
              <a:ext cx="47625" cy="1428750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03898" y="4706779"/>
              <a:ext cx="4592849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b="1" dirty="0">
                  <a:solidFill>
                    <a:srgbClr val="8C2D04"/>
                  </a:solidFill>
                  <a:latin typeface="Arial"/>
                  <a:ea typeface="Microsoft YaHei"/>
                  <a:cs typeface="Arial"/>
                </a:rPr>
                <a:t>③ 地理加权的局部耦合不能与科级结果对读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9612" y="5098256"/>
              <a:ext cx="435804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局部尺度上爬行类耦合反而更低（仅 40.8% 的网格更高）。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9612" y="5384006"/>
              <a:ext cx="611612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 xml:space="preserve">诊断：爬行类每格中位仅 </a:t>
              </a:r>
              <a:r>
                <a:rPr lang="zh-CN" sz="1125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13</a:t>
              </a:r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 xml:space="preserve"> 种（鸟 129），局部 SES 噪声大 → 标准化斜率被压低。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08660" y="5661660"/>
              <a:ext cx="614004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科级分析中耦合与物种数无关（ρ = 0.012, P = 0.95），不受此偏倚影响。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438477" y="653510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327374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核心结论经受住了什么</a:t>
            </a:r>
          </a:p>
        </p:txBody>
      </p:sp>
      <p:sp>
        <p:nvSpPr>
          <p:cNvPr id="6" name="Rectangle 6"/>
          <p:cNvSpPr/>
          <p:nvPr/>
        </p:nvSpPr>
        <p:spPr>
          <a:xfrm>
            <a:off x="0" y="666750"/>
            <a:ext cx="12192000" cy="49530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0" y="666750"/>
            <a:ext cx="57150" cy="49530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62902" y="827246"/>
            <a:ext cx="5884402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1F3B54"/>
                </a:solidFill>
                <a:latin typeface="Arial"/>
                <a:ea typeface="Microsoft YaHei"/>
                <a:cs typeface="Arial"/>
              </a:rPr>
              <a:t>体温模式与「纲」近乎共线——必须证明结论不是由某一个纲驱动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796" y="1257300"/>
            <a:ext cx="5810907" cy="4286250"/>
          </a:xfrm>
          <a:prstGeom prst="rect">
            <a:avLst/>
          </a:prstGeom>
        </p:spPr>
      </p:pic>
      <p:sp>
        <p:nvSpPr>
          <p:cNvPr id="10" name="Rectangle 10"/>
          <p:cNvSpPr/>
          <p:nvPr/>
        </p:nvSpPr>
        <p:spPr>
          <a:xfrm>
            <a:off x="8362950" y="1257300"/>
            <a:ext cx="3448050" cy="4286250"/>
          </a:xfrm>
          <a:prstGeom prst="roundRect">
            <a:avLst>
              <a:gd name="adj" fmla="val 1105"/>
            </a:avLst>
          </a:prstGeom>
          <a:solidFill>
            <a:srgbClr val="F7FAFD"/>
          </a:solidFill>
          <a:ln w="9525">
            <a:solidFill>
              <a:srgbClr val="D6E4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8362950" y="1257300"/>
            <a:ext cx="47625" cy="428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592502" y="1446371"/>
            <a:ext cx="1128832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留一纲检验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596312" y="1840706"/>
            <a:ext cx="23288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逐次剔除一个纲后重做科级检验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593455" y="2216468"/>
            <a:ext cx="242543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0066CC"/>
                </a:solidFill>
                <a:latin typeface="Arial"/>
                <a:ea typeface="Microsoft YaHei"/>
                <a:cs typeface="Arial"/>
              </a:rPr>
              <a:t>15 个「情景 × 指标」组合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593455" y="2502218"/>
            <a:ext cx="30568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0066CC"/>
                </a:solidFill>
                <a:latin typeface="Arial"/>
                <a:ea typeface="Microsoft YaHei"/>
                <a:cs typeface="Arial"/>
              </a:rPr>
              <a:t>比值 100% 大于 1（1.41–2.49）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596312" y="2945606"/>
            <a:ext cx="204132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 xml:space="preserve">人为压力轴 </a:t>
            </a:r>
            <a:r>
              <a:rPr lang="zh-CN" sz="1125" b="1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4/5</a:t>
            </a:r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 xml:space="preserve"> 情景显著，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596312" y="31742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是最稳健的单项结果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596312" y="3612356"/>
            <a:ext cx="24603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剔除任一纲后每组仅剩 5–13 科，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596312" y="3840956"/>
            <a:ext cx="234529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单项显著性会因检验力而丢失——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596312" y="406955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这是方向问题还是功效问题，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596312" y="42981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8A6D1F"/>
                </a:solidFill>
                <a:latin typeface="Arial"/>
                <a:ea typeface="Microsoft YaHei"/>
                <a:cs typeface="Arial"/>
              </a:rPr>
              <a:t>必须在论文中讲清楚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595360" y="4728210"/>
            <a:ext cx="13186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性状插补敏感性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596312" y="5022056"/>
            <a:ext cx="26574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鸟/兽/爬行保留 81–84% 实测物种，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96312" y="5250656"/>
            <a:ext cx="239458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SES 变化 &lt; 0.21——不受插补驱动</a:t>
            </a:r>
          </a:p>
        </p:txBody>
      </p:sp>
      <p:sp>
        <p:nvSpPr>
          <p:cNvPr id="25" name="Line 25"/>
          <p:cNvSpPr/>
          <p:nvPr/>
        </p:nvSpPr>
        <p:spPr>
          <a:xfrm>
            <a:off x="381000" y="6400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369570" y="6551295"/>
            <a:ext cx="34404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另有：双粒度重复、两套零模型、第四角对照、同网格对照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438477" y="653510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69742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结论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38150" y="990600"/>
            <a:ext cx="11315700" cy="5105400"/>
            <a:chOff x="438150" y="990600"/>
            <a:chExt cx="11315700" cy="5105400"/>
          </a:xfrm>
        </p:grpSpPr>
        <p:sp>
          <p:nvSpPr>
            <p:cNvPr id="6" name="Rectangle 6"/>
            <p:cNvSpPr/>
            <p:nvPr/>
          </p:nvSpPr>
          <p:spPr>
            <a:xfrm>
              <a:off x="438150" y="990600"/>
              <a:ext cx="11315700" cy="1066800"/>
            </a:xfrm>
            <a:prstGeom prst="roundRect">
              <a:avLst>
                <a:gd name="adj" fmla="val 3571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98182" y="1210151"/>
              <a:ext cx="6883289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内温性缓冲的不只是热环境，而是整体的环境过滤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06755" y="1664018"/>
              <a:ext cx="78914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D9F2"/>
                  </a:solidFill>
                  <a:latin typeface="Arial"/>
                  <a:ea typeface="Microsoft YaHei"/>
                  <a:cs typeface="Arial"/>
                </a:rPr>
                <a:t>变温类群的性状–环境耦合是恒温类群的 1.72 倍；对当代人类压力同样更敏感（1.95 倍）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438150" y="2209800"/>
              <a:ext cx="3676650" cy="1866900"/>
            </a:xfrm>
            <a:prstGeom prst="roundRect">
              <a:avLst>
                <a:gd name="adj" fmla="val 2041"/>
              </a:avLst>
            </a:prstGeom>
            <a:solidFill>
              <a:srgbClr val="F4F8FC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438150" y="2209800"/>
              <a:ext cx="47625" cy="18669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05802" y="2417921"/>
              <a:ext cx="91030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机制层面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09612" y="2793206"/>
              <a:ext cx="20002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体温调节模式给出可证伪的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9612" y="3021806"/>
              <a:ext cx="265747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跨类群预测，不再是「因类群而异」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09612" y="3383756"/>
              <a:ext cx="20002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功能冗余提供了独立佐证：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09612" y="3612356"/>
              <a:ext cx="24849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鸟类功能周转仅为物种周转的 19%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257675" y="2209800"/>
              <a:ext cx="3676650" cy="1866900"/>
            </a:xfrm>
            <a:prstGeom prst="roundRect">
              <a:avLst>
                <a:gd name="adj" fmla="val 2041"/>
              </a:avLst>
            </a:prstGeom>
            <a:solidFill>
              <a:srgbClr val="F4F8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257675" y="2209800"/>
              <a:ext cx="47625" cy="18669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525328" y="2417921"/>
              <a:ext cx="91030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方法层面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29138" y="2793206"/>
              <a:ext cx="20002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零模型的抽样权重能把聚集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29138" y="3021806"/>
              <a:ext cx="20741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夸大 1.4–2.0 倍，甚至造出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29138" y="3250406"/>
              <a:ext cx="1507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不存在的「超离散」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29138" y="3612356"/>
              <a:ext cx="25260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朴素 CWM 回归多判 1.27–2.72 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77200" y="2209800"/>
              <a:ext cx="3676650" cy="1866900"/>
            </a:xfrm>
            <a:prstGeom prst="roundRect">
              <a:avLst>
                <a:gd name="adj" fmla="val 2041"/>
              </a:avLst>
            </a:prstGeom>
            <a:solidFill>
              <a:srgbClr val="F4F8FC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77200" y="2209800"/>
              <a:ext cx="47625" cy="18669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44852" y="2417921"/>
              <a:ext cx="91030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保护层面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48662" y="2793206"/>
              <a:ext cx="20988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14–16% 的高性状多样性网格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48662" y="302180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完全无保护地覆盖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48662" y="3383756"/>
              <a:ext cx="21645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替代性分层失效：鸟类可代表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48662" y="3612356"/>
              <a:ext cx="21645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哺乳类，但与两栖类方向相反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38150" y="4229100"/>
              <a:ext cx="11315700" cy="1866900"/>
            </a:xfrm>
            <a:prstGeom prst="roundRect">
              <a:avLst>
                <a:gd name="adj" fmla="val 2041"/>
              </a:avLst>
            </a:prstGeom>
            <a:solidFill>
              <a:srgbClr val="FFF8F2"/>
            </a:solidFill>
            <a:ln w="9525">
              <a:solidFill>
                <a:srgbClr val="F0D4BC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438150" y="4229100"/>
              <a:ext cx="47625" cy="1866900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03898" y="4421029"/>
              <a:ext cx="1730716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b="1" dirty="0">
                  <a:solidFill>
                    <a:srgbClr val="8C2D04"/>
                  </a:solidFill>
                  <a:latin typeface="Arial"/>
                  <a:ea typeface="Microsoft YaHei"/>
                  <a:cs typeface="Arial"/>
                </a:rPr>
                <a:t>仍然存在的缺口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08660" y="4823460"/>
              <a:ext cx="767181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 xml:space="preserve">· </a:t>
              </a:r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两栖类的体重与活动节律实测率仅 8% 与 11%</a:t>
              </a:r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——这是中国两栖类研究的真实空白，无法用统计弥补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8660" y="5147310"/>
              <a:ext cx="61382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· 体温模式与「纲」近乎共线，这为任何中国境内的检验设置了统计功效天花板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8660" y="5471160"/>
              <a:ext cx="750531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· 兽/爬行/两栖的 GBIF 记录密度不足（163–170 个可用网格），观测群落分析只能在鸟类上完成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8660" y="5795010"/>
              <a:ext cx="578777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· 专家范围图对细尺度土地利用不敏感，故本文报告的人为效应是</a:t>
              </a:r>
              <a:r>
                <a:rPr lang="zh-CN" sz="12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保守下界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1438477" y="6535102"/>
            <a:ext cx="1953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3671387" y="1818322"/>
            <a:ext cx="4849225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数据与代码全部公开</a:t>
            </a:r>
          </a:p>
        </p:txBody>
      </p:sp>
      <p:sp>
        <p:nvSpPr>
          <p:cNvPr id="5" name="Line 5"/>
          <p:cNvSpPr/>
          <p:nvPr/>
        </p:nvSpPr>
        <p:spPr>
          <a:xfrm>
            <a:off x="4667250" y="2533650"/>
            <a:ext cx="2857500" cy="9525"/>
          </a:xfrm>
          <a:custGeom>
            <a:avLst/>
            <a:gdLst/>
            <a:ahLst/>
            <a:cxnLst/>
            <a:rect l="l" t="t" r="r" b="b"/>
            <a:pathLst>
              <a:path w="2857500" h="9525">
                <a:moveTo>
                  <a:pt x="0" y="0"/>
                </a:moveTo>
                <a:lnTo>
                  <a:pt x="2857500" y="0"/>
                </a:lnTo>
              </a:path>
            </a:pathLst>
          </a:custGeom>
          <a:noFill/>
          <a:ln w="28575">
            <a:solidFill>
              <a:srgbClr val="CC0000"/>
            </a:solidFill>
          </a:ln>
        </p:spPr>
      </p:sp>
      <p:sp>
        <p:nvSpPr>
          <p:cNvPr id="6" name="Rectangle 6"/>
          <p:cNvSpPr/>
          <p:nvPr/>
        </p:nvSpPr>
        <p:spPr>
          <a:xfrm>
            <a:off x="2286000" y="2952750"/>
            <a:ext cx="7620000" cy="1676400"/>
          </a:xfrm>
          <a:prstGeom prst="roundRect">
            <a:avLst>
              <a:gd name="adj" fmla="val 3409"/>
            </a:avLst>
          </a:prstGeom>
          <a:solidFill>
            <a:srgbClr val="0A4675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5795832" y="3253264"/>
            <a:ext cx="60033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8FC4EA"/>
                </a:solidFill>
                <a:latin typeface="Arial"/>
                <a:ea typeface="Microsoft YaHei"/>
                <a:cs typeface="Arial"/>
              </a:rPr>
              <a:t>GitHub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54438" y="3593782"/>
            <a:ext cx="328312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github.com/dingchenchen6/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845957" y="3917632"/>
            <a:ext cx="450008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china-vertebrate-trait-biogeography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986808" y="4317206"/>
            <a:ext cx="421838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8FC4EA"/>
                </a:solidFill>
                <a:latin typeface="Arial"/>
                <a:ea typeface="Microsoft YaHei"/>
                <a:cs typeface="Arial"/>
              </a:rPr>
              <a:t>22 个脚本 · 13 幅正文图 · 9 幅扩展图 · 21 张规范化表格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934843" y="5013960"/>
            <a:ext cx="632231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B9D9F2"/>
                </a:solidFill>
                <a:latin typeface="Arial"/>
                <a:ea typeface="Microsoft YaHei"/>
                <a:cs typeface="Arial"/>
              </a:rPr>
              <a:t>受 IUCN 使用条款约束的物种级数据不随仓库分发，DATA.md 中给出逐项获取方式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377339" y="5586412"/>
            <a:ext cx="143732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2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敬请指正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402645" y="6118860"/>
            <a:ext cx="338670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7FB3DA"/>
                </a:solidFill>
                <a:latin typeface="Arial"/>
                <a:ea typeface="Microsoft YaHei"/>
                <a:cs typeface="Arial"/>
              </a:rPr>
              <a:t>丁晨晨 北京大学 jialeding1220@gmail.com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