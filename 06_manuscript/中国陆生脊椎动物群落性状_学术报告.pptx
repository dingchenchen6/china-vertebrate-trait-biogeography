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190750"/>
            <a:ext cx="1143000" cy="47625"/>
          </a:xfrm>
          <a:prstGeom prst="rect">
            <a:avLst/>
          </a:prstGeom>
          <a:solidFill>
            <a:srgbClr val="4FA3E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3902" y="1732121"/>
            <a:ext cx="381359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8FC4EA"/>
                </a:solidFill>
                <a:latin typeface="Arial" panose="020B0604020202090204"/>
                <a:ea typeface="微软雅黑"/>
                <a:cs typeface="Arial" panose="020B0604020202090204"/>
              </a:rPr>
              <a:t>中国陆生脊椎动物 · 群落功能生物地理学</a:t>
            </a:r>
            <a:endParaRPr lang="zh-CN" sz="1425" dirty="0">
              <a:solidFill>
                <a:srgbClr val="8FC4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14375" y="2414588"/>
            <a:ext cx="584596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内温性缓冲了群落性状</a:t>
            </a:r>
            <a:endParaRPr lang="zh-CN" sz="37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4375" y="3024188"/>
            <a:ext cx="354568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对环境的过滤</a:t>
            </a:r>
            <a:endParaRPr lang="zh-CN" sz="37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1998" y="3792379"/>
            <a:ext cx="566420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8FC4EA"/>
                </a:solidFill>
                <a:latin typeface="Arial" panose="020B0604020202090204"/>
                <a:ea typeface="微软雅黑"/>
                <a:cs typeface="Arial" panose="020B0604020202090204"/>
              </a:rPr>
              <a:t>Endothermy buffers assemblage trait composition</a:t>
            </a:r>
            <a:endParaRPr lang="zh-CN" sz="1575" dirty="0">
              <a:solidFill>
                <a:srgbClr val="8FC4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1998" y="4078129"/>
            <a:ext cx="354794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8FC4EA"/>
                </a:solidFill>
                <a:latin typeface="Arial" panose="020B0604020202090204"/>
                <a:ea typeface="微软雅黑"/>
                <a:cs typeface="Arial" panose="020B0604020202090204"/>
              </a:rPr>
              <a:t>against environmental filtering</a:t>
            </a:r>
            <a:endParaRPr lang="zh-CN" sz="1575" dirty="0">
              <a:solidFill>
                <a:srgbClr val="8FC4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762000" y="47434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4FA3E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39140" y="49491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丁晨晨</a:t>
            </a:r>
            <a:endParaRPr lang="zh-CN" sz="180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5808" y="5329714"/>
            <a:ext cx="17641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B9D9F2"/>
                </a:solidFill>
                <a:latin typeface="Arial" panose="020B0604020202090204"/>
                <a:ea typeface="微软雅黑"/>
                <a:cs typeface="Arial" panose="020B0604020202090204"/>
              </a:rPr>
              <a:t>北京大学 保护生态学</a:t>
            </a:r>
            <a:endParaRPr lang="zh-CN" sz="1275" dirty="0">
              <a:solidFill>
                <a:srgbClr val="B9D9F2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7712" y="5860256"/>
            <a:ext cx="9569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FB3DA"/>
                </a:solidFill>
                <a:latin typeface="Arial" panose="020B0604020202090204"/>
                <a:ea typeface="微软雅黑"/>
                <a:cs typeface="Arial" panose="020B0604020202090204"/>
              </a:rPr>
              <a:t>2026 年 8 月</a:t>
            </a:r>
            <a:endParaRPr lang="zh-CN" sz="1125" dirty="0">
              <a:solidFill>
                <a:srgbClr val="7FB3D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8001000" y="1143000"/>
            <a:ext cx="3238500" cy="3238500"/>
            <a:chOff x="8001000" y="1143000"/>
            <a:chExt cx="3238500" cy="3238500"/>
          </a:xfrm>
        </p:grpSpPr>
        <p:sp>
          <p:nvSpPr>
            <p:cNvPr id="14" name="Ellipse 14"/>
            <p:cNvSpPr/>
            <p:nvPr/>
          </p:nvSpPr>
          <p:spPr>
            <a:xfrm>
              <a:off x="8191500" y="133350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4FA3E3">
                  <a:alpha val="20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620125" y="1762125"/>
              <a:ext cx="2000250" cy="2000250"/>
            </a:xfrm>
            <a:prstGeom prst="ellipse">
              <a:avLst/>
            </a:prstGeom>
            <a:noFill/>
            <a:ln w="14288">
              <a:solidFill>
                <a:srgbClr val="4FA3E3">
                  <a:alpha val="20000"/>
                </a:srgb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048750" y="2190750"/>
              <a:ext cx="1143000" cy="1143000"/>
            </a:xfrm>
            <a:prstGeom prst="ellipse">
              <a:avLst/>
            </a:prstGeom>
            <a:noFill/>
            <a:ln w="14288">
              <a:solidFill>
                <a:srgbClr val="4FA3E3">
                  <a:alpha val="2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620250" y="1143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4FA3E3">
                  <a:alpha val="2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00100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4FA3E3">
                  <a:alpha val="20000"/>
                </a:srgbClr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882503" y="2329815"/>
            <a:ext cx="147549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9E3F7"/>
                </a:solidFill>
                <a:latin typeface="Arial" panose="020B0604020202090204"/>
                <a:ea typeface="微软雅黑"/>
                <a:cs typeface="Arial" panose="020B0604020202090204"/>
              </a:rPr>
              <a:t>2,837</a:t>
            </a:r>
            <a:endParaRPr lang="zh-CN" sz="3300" b="1" dirty="0">
              <a:solidFill>
                <a:srgbClr val="C9E3F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417844" y="2834164"/>
            <a:ext cx="40481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8FC4EA"/>
                </a:solidFill>
                <a:latin typeface="Arial" panose="020B0604020202090204"/>
                <a:ea typeface="微软雅黑"/>
                <a:cs typeface="Arial" panose="020B0604020202090204"/>
              </a:rPr>
              <a:t>物种</a:t>
            </a:r>
            <a:endParaRPr lang="zh-CN" sz="1275" dirty="0">
              <a:solidFill>
                <a:srgbClr val="8FC4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829615" y="3136106"/>
            <a:ext cx="15812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FC4EA"/>
                </a:solidFill>
                <a:latin typeface="Arial" panose="020B0604020202090204"/>
                <a:ea typeface="微软雅黑"/>
                <a:cs typeface="Arial" panose="020B0604020202090204"/>
              </a:rPr>
              <a:t>鸟 · 兽 · 爬行 · 两栖</a:t>
            </a:r>
            <a:endParaRPr lang="zh-CN" sz="1125" dirty="0">
              <a:solidFill>
                <a:srgbClr val="8FC4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155960" y="4545806"/>
            <a:ext cx="29285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FB3DA"/>
                </a:solidFill>
                <a:latin typeface="Arial" panose="020B0604020202090204"/>
                <a:ea typeface="微软雅黑"/>
                <a:cs typeface="Arial" panose="020B0604020202090204"/>
              </a:rPr>
              <a:t>50 km 网格 3,782 格 | 33 科为重复单元</a:t>
            </a:r>
            <a:endParaRPr lang="zh-CN" sz="1125" dirty="0">
              <a:solidFill>
                <a:srgbClr val="7FB3D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702278" y="47934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FB3DA"/>
                </a:solidFill>
                <a:latin typeface="Arial" panose="020B0604020202090204"/>
                <a:ea typeface="微软雅黑"/>
                <a:cs typeface="Arial" panose="020B0604020202090204"/>
              </a:rPr>
              <a:t>含保护地评估与性二态性</a:t>
            </a:r>
            <a:endParaRPr lang="zh-CN" sz="1125" dirty="0">
              <a:solidFill>
                <a:srgbClr val="7FB3D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报告提纲</a:t>
            </a:r>
            <a:endParaRPr lang="zh-CN" sz="210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571500" y="1066800"/>
            <a:ext cx="11049000" cy="5391150"/>
            <a:chOff x="571500" y="1066800"/>
            <a:chExt cx="11049000" cy="5391150"/>
          </a:xfrm>
        </p:grpSpPr>
        <p:sp>
          <p:nvSpPr>
            <p:cNvPr id="6" name="Rectangle 6"/>
            <p:cNvSpPr/>
            <p:nvPr/>
          </p:nvSpPr>
          <p:spPr>
            <a:xfrm>
              <a:off x="571500" y="1066800"/>
              <a:ext cx="11049000" cy="857250"/>
            </a:xfrm>
            <a:prstGeom prst="roundRect">
              <a:avLst>
                <a:gd name="adj" fmla="val 4444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66800"/>
              <a:ext cx="47625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1062" y="1245394"/>
              <a:ext cx="431753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 问题：两篇对标文献留下的空白</a:t>
              </a:r>
              <a:endParaRPr lang="zh-CN" sz="18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9635" y="1623060"/>
              <a:ext cx="511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效应「因类群而异」被反复观察到，却从未被机制化、被正式检验</a:t>
              </a:r>
              <a:endParaRPr lang="zh-CN" sz="120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038350"/>
              <a:ext cx="11049000" cy="857250"/>
            </a:xfrm>
            <a:prstGeom prst="roundRect">
              <a:avLst>
                <a:gd name="adj" fmla="val 4444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038350"/>
              <a:ext cx="47625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1062" y="2216944"/>
              <a:ext cx="57983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 假说与设计：体温调节模式 + 四个方法决定</a:t>
              </a:r>
              <a:endParaRPr lang="zh-CN" sz="18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9635" y="2594610"/>
              <a:ext cx="36495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重复单元・性状四阶矩・零模型权重・第四角检验</a:t>
              </a:r>
              <a:endParaRPr lang="zh-CN" sz="120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009900"/>
              <a:ext cx="11049000" cy="857250"/>
            </a:xfrm>
            <a:prstGeom prst="roundRect">
              <a:avLst>
                <a:gd name="adj" fmla="val 4444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3009900"/>
              <a:ext cx="47625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1062" y="3188494"/>
              <a:ext cx="37424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 结果：性状格局与环境驱动</a:t>
              </a:r>
              <a:endParaRPr lang="zh-CN" sz="18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9635" y="3566160"/>
              <a:ext cx="5069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功能结构・耦合不对称・人为过滤・功能冗余・过滤器身份・功能分区</a:t>
              </a:r>
              <a:endParaRPr lang="zh-CN" sz="120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981450"/>
              <a:ext cx="11049000" cy="857250"/>
            </a:xfrm>
            <a:prstGeom prst="roundRect">
              <a:avLst>
                <a:gd name="adj" fmla="val 4444"/>
              </a:avLst>
            </a:prstGeom>
            <a:solidFill>
              <a:srgbClr val="EAF3F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3981450"/>
              <a:ext cx="47625" cy="8572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1062" y="4160044"/>
              <a:ext cx="460507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 保护评估与一个全球库没有的维度</a:t>
              </a:r>
              <a:endParaRPr lang="zh-CN" sz="18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9635" y="4537710"/>
              <a:ext cx="46836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保护空缺・保护地有效性・性二态性・群落尺度的 Rensch 法则</a:t>
              </a:r>
              <a:endParaRPr lang="zh-CN" sz="120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953000"/>
              <a:ext cx="11049000" cy="857250"/>
            </a:xfrm>
            <a:prstGeom prst="roundRect">
              <a:avLst>
                <a:gd name="adj" fmla="val 4444"/>
              </a:avLst>
            </a:prstGeom>
            <a:solidFill>
              <a:srgbClr val="FFF4EE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" y="4953000"/>
              <a:ext cx="47625" cy="8572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1062" y="5131594"/>
              <a:ext cx="37424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5 我们推翻了自己的哪些结论</a:t>
              </a:r>
              <a:endParaRPr lang="zh-CN" sz="18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9635" y="5509260"/>
              <a:ext cx="3745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零模型・数据来源・尺度——三处被自己的检验改写</a:t>
              </a:r>
              <a:endParaRPr lang="zh-CN" sz="120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5924550"/>
              <a:ext cx="11049000" cy="533400"/>
            </a:xfrm>
            <a:prstGeom prst="roundRect">
              <a:avLst>
                <a:gd name="adj" fmla="val 7143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5924550"/>
              <a:ext cx="47625" cy="5334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1062" y="6065044"/>
              <a:ext cx="316739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6 结论与仍然存在的缺口</a:t>
              </a:r>
              <a:endParaRPr lang="zh-CN" sz="18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5228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2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090738"/>
            <a:ext cx="1892356" cy="198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0" b="1" dirty="0">
                <a:solidFill>
                  <a:srgbClr val="4FA3E3">
                    <a:alphaMod val="35000"/>
                  </a:srgbClr>
                </a:solidFill>
                <a:latin typeface="Arial" panose="020B0604020202090204"/>
                <a:ea typeface="微软雅黑"/>
                <a:cs typeface="Arial" panose="020B0604020202090204"/>
              </a:rPr>
              <a:t>01</a:t>
            </a:r>
            <a:endParaRPr lang="zh-CN" sz="9750" b="1" dirty="0">
              <a:solidFill>
                <a:srgbClr val="4FA3E3">
                  <a:alphaMod val="35000"/>
                </a:srgbClr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3435" y="3723322"/>
            <a:ext cx="6436424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问题：对标文献留下的空白</a:t>
            </a:r>
            <a:endParaRPr lang="zh-CN" sz="34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876300" y="447675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8200" y="4791075"/>
            <a:ext cx="743188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FCBEA"/>
                </a:solidFill>
                <a:latin typeface="Arial" panose="020B0604020202090204"/>
                <a:ea typeface="微软雅黑"/>
                <a:cs typeface="Arial" panose="020B0604020202090204"/>
              </a:rPr>
              <a:t>Huang et al. 2023 The Innovation · Sun et al. 2025 Zoological Research</a:t>
            </a:r>
            <a:endParaRPr lang="zh-CN" sz="1500" dirty="0">
              <a:solidFill>
                <a:srgbClr val="9FCB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两篇对标文献做了什么</a:t>
            </a:r>
            <a:endParaRPr lang="zh-CN" sz="210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9530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953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2902" y="827246"/>
            <a:ext cx="796561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同样的四类群、同样的中国、同样的功能多样性指标——结论都停在「效应因类群而异」</a:t>
            </a:r>
            <a:endParaRPr lang="zh-CN" sz="1425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476250" y="1390650"/>
            <a:ext cx="11239500" cy="2381250"/>
            <a:chOff x="476250" y="1390650"/>
            <a:chExt cx="11239500" cy="2381250"/>
          </a:xfrm>
        </p:grpSpPr>
        <p:sp>
          <p:nvSpPr>
            <p:cNvPr id="9" name="Rectangle 9"/>
            <p:cNvSpPr/>
            <p:nvPr/>
          </p:nvSpPr>
          <p:spPr>
            <a:xfrm>
              <a:off x="476250" y="1390650"/>
              <a:ext cx="5524500" cy="2381250"/>
            </a:xfrm>
            <a:prstGeom prst="roundRect">
              <a:avLst>
                <a:gd name="adj" fmla="val 1600"/>
              </a:avLst>
            </a:prstGeom>
            <a:solidFill>
              <a:srgbClr val="F7FAFD"/>
            </a:solidFill>
            <a:ln w="9525">
              <a:solidFill>
                <a:srgbClr val="D6E4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76250" y="1390650"/>
              <a:ext cx="5524500" cy="400050"/>
            </a:xfrm>
            <a:prstGeom prst="roundRect">
              <a:avLst>
                <a:gd name="adj" fmla="val 9524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76250" y="1676400"/>
              <a:ext cx="5524500" cy="1143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652" y="1513046"/>
              <a:ext cx="344522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Huang et al. 2023 The Innovation</a:t>
              </a:r>
              <a:endParaRPr lang="zh-CN" sz="14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1510" y="1985010"/>
              <a:ext cx="34392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2,430 种 · 50 km Behrmann 网格 3,888 格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1510" y="2270760"/>
              <a:ext cx="23964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FRic / FEve / FDiv + NRI / NTI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1510" y="2556510"/>
              <a:ext cx="30361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驱动：现代气候 + 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末次盛冰期气候变化</a:t>
              </a:r>
              <a:endParaRPr lang="zh-CN" sz="12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510" y="2842260"/>
              <a:ext cx="3342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人类因子：仅公元前 10,000 年的人口密度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462" y="3231356"/>
              <a:ext cx="2682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结论：「LGM 效应因不同类群而异」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2462" y="3479006"/>
              <a:ext cx="26739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——但未说明为什么、也未做正式检验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1390650"/>
              <a:ext cx="5524500" cy="2381250"/>
            </a:xfrm>
            <a:prstGeom prst="roundRect">
              <a:avLst>
                <a:gd name="adj" fmla="val 1600"/>
              </a:avLst>
            </a:prstGeom>
            <a:solidFill>
              <a:srgbClr val="F7FAFD"/>
            </a:solidFill>
            <a:ln w="9525">
              <a:solidFill>
                <a:srgbClr val="D6E4F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91250" y="1390650"/>
              <a:ext cx="5524500" cy="400050"/>
            </a:xfrm>
            <a:prstGeom prst="roundRect">
              <a:avLst>
                <a:gd name="adj" fmla="val 9524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91250" y="1676400"/>
              <a:ext cx="5524500" cy="1143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63652" y="1513046"/>
              <a:ext cx="3751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Sun et al. 2025 Zoological Research</a:t>
              </a:r>
              <a:endParaRPr lang="zh-CN" sz="14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66510" y="1985010"/>
              <a:ext cx="1730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2,334 种 · 0.5° 网格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66510" y="2270760"/>
              <a:ext cx="27119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性状体积 / 性状密度 + 演化独特性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66510" y="2556510"/>
              <a:ext cx="31588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驱动：MAT / MAP（其余因共线性剔除）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66510" y="284226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人类因子：</a:t>
              </a:r>
              <a:r>
                <a:rPr lang="zh-CN" sz="1200" b="1" dirty="0">
                  <a:solidFill>
                    <a:srgbClr val="CC000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无</a:t>
              </a:r>
              <a:endParaRPr lang="zh-CN" sz="1200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7462" y="32313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结论：「两栖类对环境最敏感」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67462" y="3479006"/>
              <a:ext cx="18523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——同样是描述，而非机制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0" name="Rectangle 30"/>
          <p:cNvSpPr/>
          <p:nvPr/>
        </p:nvSpPr>
        <p:spPr>
          <a:xfrm>
            <a:off x="476250" y="4000500"/>
            <a:ext cx="11239500" cy="2171700"/>
          </a:xfrm>
          <a:prstGeom prst="roundRect">
            <a:avLst>
              <a:gd name="adj" fmla="val 1754"/>
            </a:avLst>
          </a:prstGeom>
          <a:solidFill>
            <a:srgbClr val="FFF8F2"/>
          </a:solidFill>
          <a:ln w="9525">
            <a:solidFill>
              <a:srgbClr val="F0D4BC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76250" y="4000500"/>
            <a:ext cx="47625" cy="21717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1045" y="42033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五个共同的空白</a:t>
            </a:r>
            <a:endParaRPr lang="zh-CN" sz="1650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746760" y="4632960"/>
            <a:ext cx="6515100" cy="1463040"/>
            <a:chOff x="746760" y="4632960"/>
            <a:chExt cx="6515100" cy="1463040"/>
          </a:xfrm>
        </p:grpSpPr>
        <p:sp>
          <p:nvSpPr>
            <p:cNvPr id="33" name="TextBox 33"/>
            <p:cNvSpPr txBox="1"/>
            <p:nvPr/>
          </p:nvSpPr>
          <p:spPr>
            <a:xfrm>
              <a:off x="746760" y="4632960"/>
              <a:ext cx="65151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 没有从第一性原理提出可证伪的跨类群假设，也没有做类群 × 驱动因子的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交互检验</a:t>
              </a:r>
              <a:endParaRPr lang="zh-CN" sz="12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6760" y="4937760"/>
              <a:ext cx="45784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 完全忽略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当代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人类活动——而这正是保护决策最需要的部分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760" y="5242560"/>
              <a:ext cx="34042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 单一空间粒度，未检验尺度依赖（MAUP）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6760" y="5547360"/>
              <a:ext cx="59630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 以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网格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为重复单元：同一纲的所有格共用一个物种库与性状矩阵，属伪重复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6760" y="5852160"/>
              <a:ext cx="5340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5 CWM 直接对环境回归——存在严重的第一类错误膨胀，两文均未处理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9" name="Line 39"/>
          <p:cNvSpPr/>
          <p:nvPr/>
        </p:nvSpPr>
        <p:spPr>
          <a:xfrm>
            <a:off x="381000" y="63627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9570" y="6532245"/>
            <a:ext cx="3959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Huang et al. 2023 Innov. 4:100379；Sun et al. 2025 Zool. Res.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522821" y="65160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4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科学问题与热缓冲假说</a:t>
            </a:r>
            <a:endParaRPr lang="zh-CN" sz="210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9530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953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2902" y="827246"/>
            <a:ext cx="461486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过滤器的强度本身，能否由生物的生理属性预测？</a:t>
            </a:r>
            <a:endParaRPr lang="zh-CN" sz="1425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476250" y="1390650"/>
            <a:ext cx="11239500" cy="704850"/>
          </a:xfrm>
          <a:prstGeom prst="roundRect">
            <a:avLst>
              <a:gd name="adj" fmla="val 5405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106097" y="1528286"/>
            <a:ext cx="797980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跨越中国的环境梯度，决定群落性状组成的环境过滤器身份与强度，</a:t>
            </a:r>
            <a:endParaRPr lang="zh-CN" sz="17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957828" y="1794986"/>
            <a:ext cx="427634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是否可由类群的</a:t>
            </a:r>
            <a:r>
              <a:rPr lang="zh-CN" sz="1725" b="1" dirty="0">
                <a:solidFill>
                  <a:srgbClr val="FFD166"/>
                </a:solidFill>
                <a:latin typeface="Arial" panose="020B0604020202090204"/>
                <a:ea typeface="微软雅黑"/>
                <a:cs typeface="Arial" panose="020B0604020202090204"/>
              </a:rPr>
              <a:t>体温调节模式</a:t>
            </a:r>
            <a:r>
              <a:rPr lang="zh-CN" sz="17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预测？</a:t>
            </a:r>
            <a:endParaRPr lang="zh-CN" sz="17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476250" y="2362200"/>
            <a:ext cx="11239500" cy="1714500"/>
            <a:chOff x="476250" y="2362200"/>
            <a:chExt cx="11239500" cy="1714500"/>
          </a:xfrm>
        </p:grpSpPr>
        <p:sp>
          <p:nvSpPr>
            <p:cNvPr id="12" name="Rectangle 12"/>
            <p:cNvSpPr/>
            <p:nvPr/>
          </p:nvSpPr>
          <p:spPr>
            <a:xfrm>
              <a:off x="476250" y="2362200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rgbClr val="FDF0EE"/>
            </a:solidFill>
            <a:ln w="9525">
              <a:solidFill>
                <a:srgbClr val="E8C4B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175" y="2546032"/>
              <a:ext cx="23571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B2182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恒温：鸟类 · 哺乳类</a:t>
              </a:r>
              <a:endParaRPr lang="zh-CN" sz="1650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1580" y="293751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内温性使体温与环境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解耦</a:t>
              </a:r>
              <a:endParaRPr lang="zh-CN" sz="12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9210" y="32232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代价是极高的能量需求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1600" y="359616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B2182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→ 性状受环境约束较松</a:t>
              </a:r>
              <a:endParaRPr lang="zh-CN" sz="1275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86250" y="236220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rgbClr val="F4F8FC"/>
            </a:solidFill>
            <a:ln w="9525">
              <a:solidFill>
                <a:srgbClr val="CFDD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22013" y="254603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预测</a:t>
              </a:r>
              <a:endParaRPr lang="zh-CN" sz="16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90637" y="2948464"/>
              <a:ext cx="18107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变温类群的性状–环境</a:t>
              </a:r>
              <a:endParaRPr lang="zh-CN" sz="127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48739" y="32151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耦合强度应</a:t>
              </a:r>
              <a:r>
                <a:rPr lang="zh-CN" sz="127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系统性更高</a:t>
              </a:r>
              <a:endParaRPr lang="zh-CN" sz="127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24488" y="36504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尤其在热能量轴上</a:t>
              </a:r>
              <a:endPara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286750" y="2362200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rgbClr val="EDF4F1"/>
            </a:solidFill>
            <a:ln w="9525">
              <a:solidFill>
                <a:srgbClr val="BFD8C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9191" y="2546032"/>
              <a:ext cx="21041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B783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变温：爬行 · 两栖</a:t>
              </a:r>
              <a:endParaRPr lang="zh-CN" sz="1650" b="1" dirty="0">
                <a:solidFill>
                  <a:srgbClr val="1B783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2600" y="293751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体温随环境变化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09710" y="32232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性状直接受热环境筛选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22100" y="359616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B783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→ 性状受环境紧密约束</a:t>
              </a:r>
              <a:endParaRPr lang="zh-CN" sz="1275" b="1" dirty="0">
                <a:solidFill>
                  <a:srgbClr val="1B783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28" name="Freeform 28"/>
          <p:cNvSpPr/>
          <p:nvPr/>
        </p:nvSpPr>
        <p:spPr>
          <a:xfrm>
            <a:off x="3924300" y="3219450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8899AA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924800" y="3219450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32385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8899AA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476250" y="4305300"/>
            <a:ext cx="11239500" cy="1866900"/>
          </a:xfrm>
          <a:prstGeom prst="roundRect">
            <a:avLst>
              <a:gd name="adj" fmla="val 2041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41998" y="4516279"/>
            <a:ext cx="269683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为什么这个假说值得检验</a:t>
            </a:r>
            <a:endParaRPr lang="zh-CN" sz="157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746760" y="4937760"/>
            <a:ext cx="6664071" cy="1215390"/>
            <a:chOff x="746760" y="4937760"/>
            <a:chExt cx="6664071" cy="1215390"/>
          </a:xfrm>
        </p:grpSpPr>
        <p:sp>
          <p:nvSpPr>
            <p:cNvPr id="32" name="TextBox 32"/>
            <p:cNvSpPr txBox="1"/>
            <p:nvPr/>
          </p:nvSpPr>
          <p:spPr>
            <a:xfrm>
              <a:off x="746760" y="4937760"/>
              <a:ext cx="5086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它是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可证伪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的：给出方向明确的定量预测，而非「因类群而异」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6760" y="5261610"/>
              <a:ext cx="59630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它是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可迁移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的：不依赖中国的特殊性，可在任何区域、任何类群集合上重复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6760" y="5585460"/>
              <a:ext cx="66640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它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直接关系保护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：若成立，变温类群在气候与土地利用变化下的暴露度被系统性低估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760" y="5909310"/>
              <a:ext cx="44032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检验它需要真正的重复单元——这正是前人设计上的短板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7" name="Line 37"/>
          <p:cNvSpPr/>
          <p:nvPr/>
        </p:nvSpPr>
        <p:spPr>
          <a:xfrm>
            <a:off x="381000" y="63627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522821" y="65160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5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090738"/>
            <a:ext cx="1892356" cy="198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0" b="1" dirty="0">
                <a:solidFill>
                  <a:srgbClr val="4FA3E3">
                    <a:alphaMod val="35000"/>
                  </a:srgbClr>
                </a:solidFill>
                <a:latin typeface="Arial" panose="020B0604020202090204"/>
                <a:ea typeface="微软雅黑"/>
                <a:cs typeface="Arial" panose="020B0604020202090204"/>
              </a:rPr>
              <a:t>02</a:t>
            </a:r>
            <a:endParaRPr lang="zh-CN" sz="9750" b="1" dirty="0">
              <a:solidFill>
                <a:srgbClr val="4FA3E3">
                  <a:alphaMod val="35000"/>
                </a:srgbClr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3435" y="3723322"/>
            <a:ext cx="2732961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假说与设计</a:t>
            </a:r>
            <a:endParaRPr lang="zh-CN" sz="34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876300" y="447675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8200" y="4791075"/>
            <a:ext cx="5076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FCBEA"/>
                </a:solidFill>
                <a:latin typeface="Arial" panose="020B0604020202090204"/>
                <a:ea typeface="微软雅黑"/>
                <a:cs typeface="Arial" panose="020B0604020202090204"/>
              </a:rPr>
              <a:t>体温调节模式给出可证伪的预测；四个方法决定成败</a:t>
            </a:r>
            <a:endParaRPr lang="zh-CN" sz="1500" dirty="0">
              <a:solidFill>
                <a:srgbClr val="9FCB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数据基础</a:t>
            </a:r>
            <a:endParaRPr lang="zh-CN" sz="210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9530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953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2902" y="827246"/>
            <a:ext cx="62590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2,837 种 · 两个嵌套粒度 · 47 个环境变量归并为 5 个生态学预测轴</a:t>
            </a:r>
            <a:endParaRPr lang="zh-CN" sz="1425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299940"/>
            <a:ext cx="7620000" cy="437242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8248650" y="1333500"/>
            <a:ext cx="3712725" cy="4343400"/>
            <a:chOff x="8248650" y="1333500"/>
            <a:chExt cx="3712725" cy="4343400"/>
          </a:xfrm>
        </p:grpSpPr>
        <p:sp>
          <p:nvSpPr>
            <p:cNvPr id="10" name="Rectangle 10"/>
            <p:cNvSpPr/>
            <p:nvPr/>
          </p:nvSpPr>
          <p:spPr>
            <a:xfrm>
              <a:off x="8248650" y="1333500"/>
              <a:ext cx="3505200" cy="819150"/>
            </a:xfrm>
            <a:prstGeom prst="roundRect">
              <a:avLst>
                <a:gd name="adj" fmla="val 4651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10575" y="1433512"/>
              <a:ext cx="10060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2,837</a:t>
              </a:r>
              <a:endParaRPr lang="zh-CN" sz="22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4862" y="1840706"/>
              <a:ext cx="35365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物种（鸟 1,177 · 兽 631 · 爬 520 · 两栖 509）</a:t>
              </a:r>
              <a:endPara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248650" y="2266950"/>
              <a:ext cx="3505200" cy="819150"/>
            </a:xfrm>
            <a:prstGeom prst="roundRect">
              <a:avLst>
                <a:gd name="adj" fmla="val 4651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10575" y="2366962"/>
              <a:ext cx="197213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3,782 / 950</a:t>
              </a:r>
              <a:endParaRPr lang="zh-CN" sz="22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4862" y="2774156"/>
              <a:ext cx="2887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50 km / 100 km 等积网格（严格嵌套）</a:t>
              </a:r>
              <a:endPara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48650" y="3200400"/>
              <a:ext cx="3505200" cy="819150"/>
            </a:xfrm>
            <a:prstGeom prst="roundRect">
              <a:avLst>
                <a:gd name="adj" fmla="val 4651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10575" y="3300412"/>
              <a:ext cx="8334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6 + 4</a:t>
              </a:r>
              <a:endParaRPr lang="zh-CN" sz="22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24862" y="3707606"/>
              <a:ext cx="28464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四类群通用核心性状 + 三类群扩展性状</a:t>
              </a:r>
              <a:endPara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48650" y="4133850"/>
              <a:ext cx="3505200" cy="819150"/>
            </a:xfrm>
            <a:prstGeom prst="roundRect">
              <a:avLst>
                <a:gd name="adj" fmla="val 4651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10575" y="4233862"/>
              <a:ext cx="4366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33</a:t>
              </a:r>
              <a:endParaRPr lang="zh-CN" sz="22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4862" y="4641056"/>
              <a:ext cx="33229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科（恒温 21 / 变温 12）——本研究的重复单元</a:t>
              </a:r>
              <a:endPara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248650" y="5067300"/>
              <a:ext cx="3505200" cy="609600"/>
            </a:xfrm>
            <a:prstGeom prst="roundRect">
              <a:avLst>
                <a:gd name="adj" fmla="val 6250"/>
              </a:avLst>
            </a:prstGeom>
            <a:solidFill>
              <a:srgbClr val="FFF8F2"/>
            </a:solidFill>
            <a:ln w="9525">
              <a:solidFill>
                <a:srgbClr val="F0D4B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5815" y="52016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性状统一骨架</a:t>
              </a:r>
              <a:endParaRPr lang="zh-CN" sz="1050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5815" y="5430202"/>
              <a:ext cx="3254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TetrapodTraits v2.0.1（四纲同一分类系统）</a:t>
              </a:r>
              <a:endParaRPr lang="zh-CN" sz="105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26" name="Rectangle 26"/>
          <p:cNvSpPr/>
          <p:nvPr/>
        </p:nvSpPr>
        <p:spPr>
          <a:xfrm>
            <a:off x="438150" y="5829300"/>
            <a:ext cx="11315700" cy="438150"/>
          </a:xfrm>
          <a:prstGeom prst="roundRect">
            <a:avLst>
              <a:gd name="adj" fmla="val 8696"/>
            </a:avLst>
          </a:prstGeom>
          <a:solidFill>
            <a:srgbClr val="F4F8F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13410" y="5975985"/>
            <a:ext cx="87759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分布数据：IUCN 范围图（两栖/爬行/哺乳）+ BirdLife 衍生网格矩阵（鸟类）；观测群落来自 GBIF 458 万条记录</a:t>
            </a:r>
            <a:endParaRPr lang="zh-CN" sz="120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69570" y="6551295"/>
            <a:ext cx="26386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地图基于自然资源部标准地图 GS(2023)2767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522821" y="65351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7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四个决定结论成败的方法选择</a:t>
            </a:r>
            <a:endParaRPr lang="zh-CN" sz="210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9530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953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2902" y="827246"/>
            <a:ext cx="567628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每一个都能单独改变结论的方向或量级——后面会逐一给出证据</a:t>
            </a:r>
            <a:endParaRPr lang="zh-CN" sz="1425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438150" y="1352550"/>
            <a:ext cx="11315700" cy="4857750"/>
            <a:chOff x="438150" y="1352550"/>
            <a:chExt cx="11315700" cy="4857750"/>
          </a:xfrm>
        </p:grpSpPr>
        <p:sp>
          <p:nvSpPr>
            <p:cNvPr id="9" name="Rectangle 9"/>
            <p:cNvSpPr/>
            <p:nvPr/>
          </p:nvSpPr>
          <p:spPr>
            <a:xfrm>
              <a:off x="438150" y="1352550"/>
              <a:ext cx="5600700" cy="2362200"/>
            </a:xfrm>
            <a:prstGeom prst="roundRect">
              <a:avLst>
                <a:gd name="adj" fmla="val 1613"/>
              </a:avLst>
            </a:prstGeom>
            <a:solidFill>
              <a:srgbClr val="F7FAFD"/>
            </a:solidFill>
            <a:ln w="9525">
              <a:solidFill>
                <a:srgbClr val="D6E4F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09600" y="1543050"/>
              <a:ext cx="419100" cy="41910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6842" y="16668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</a:t>
              </a:r>
              <a:endParaRPr lang="zh-CN" sz="15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1095" y="1650682"/>
              <a:ext cx="33692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重复单元 = 科，而非纲或网格</a:t>
              </a:r>
              <a:endParaRPr lang="zh-CN" sz="16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0560" y="2099310"/>
              <a:ext cx="40614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以「纲」为单元只有 4 个重复（恒温 2 / 变温 2）；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0560" y="2366010"/>
              <a:ext cx="35532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以「网格」为单元是伪重复——同一纲的所有格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0560" y="2632710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共用一个物种库与一条性状向量。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0560" y="3013710"/>
              <a:ext cx="32048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本研究：33 个科，纲/目 嵌套随机效应</a:t>
              </a:r>
              <a:endParaRPr lang="zh-CN" sz="120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1512" y="3307556"/>
              <a:ext cx="32079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代价：每组只剩 12–21 个重复，检验力有限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53150" y="1352550"/>
              <a:ext cx="5600700" cy="2362200"/>
            </a:xfrm>
            <a:prstGeom prst="roundRect">
              <a:avLst>
                <a:gd name="adj" fmla="val 1613"/>
              </a:avLst>
            </a:prstGeom>
            <a:solidFill>
              <a:srgbClr val="F7FAFD"/>
            </a:solidFill>
            <a:ln w="9525">
              <a:solidFill>
                <a:srgbClr val="D6E4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324600" y="1543050"/>
              <a:ext cx="419100" cy="41910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51842" y="16668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</a:t>
              </a:r>
              <a:endParaRPr lang="zh-CN" sz="15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56095" y="165068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性状分布的四阶矩</a:t>
              </a:r>
              <a:endParaRPr lang="zh-CN" sz="16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85560" y="2099310"/>
              <a:ext cx="27119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均值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＝方向性过滤 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方差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＝过滤强度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85560" y="236601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偏度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＝哪一侧尾部被截断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85560" y="263271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峰度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＝生态位填充程度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85560" y="301371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四者并不冗余：显著比例与主导环境轴均不同</a:t>
              </a:r>
              <a:endParaRPr lang="zh-CN" sz="120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86512" y="330755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偏度在变温类群比方差更敏感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" y="3848100"/>
              <a:ext cx="5600700" cy="2362200"/>
            </a:xfrm>
            <a:prstGeom prst="roundRect">
              <a:avLst>
                <a:gd name="adj" fmla="val 1613"/>
              </a:avLst>
            </a:prstGeom>
            <a:solidFill>
              <a:srgbClr val="FFF8F2"/>
            </a:solidFill>
            <a:ln w="9525">
              <a:solidFill>
                <a:srgbClr val="F0D4BC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09600" y="4038600"/>
              <a:ext cx="419100" cy="4191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6842" y="41624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</a:t>
              </a:r>
              <a:endParaRPr lang="zh-CN" sz="15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1095" y="414623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零模型的抽样权重</a:t>
              </a:r>
              <a:endParaRPr lang="zh-CN" sz="1650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459486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等概率抽样把狭域特有种与广布种视为等可能，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560" y="4861560"/>
              <a:ext cx="3386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而真实群落由广布种主导 → </a:t>
              </a:r>
              <a:r>
                <a:rPr lang="zh-CN" sz="1200" b="1" dirty="0">
                  <a:solidFill>
                    <a:srgbClr val="CC000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虚假的功能聚集</a:t>
              </a:r>
              <a:endParaRPr lang="zh-CN" sz="1200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560" y="5242560"/>
              <a:ext cx="31588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本研究：按物种占据网格数加权（主）</a:t>
              </a:r>
              <a:endParaRPr lang="zh-CN" sz="120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512" y="5536406"/>
              <a:ext cx="2263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修正后聚集量级下调 30–50%，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1512" y="58031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两栖类的「超离散」完全消失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53150" y="3848100"/>
              <a:ext cx="5600700" cy="2362200"/>
            </a:xfrm>
            <a:prstGeom prst="roundRect">
              <a:avLst>
                <a:gd name="adj" fmla="val 1613"/>
              </a:avLst>
            </a:prstGeom>
            <a:solidFill>
              <a:srgbClr val="FFF8F2"/>
            </a:solidFill>
            <a:ln w="9525">
              <a:solidFill>
                <a:srgbClr val="F0D4B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324600" y="4038600"/>
              <a:ext cx="419100" cy="4191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51842" y="41624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</a:t>
              </a:r>
              <a:endParaRPr lang="zh-CN" sz="15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6095" y="4146232"/>
              <a:ext cx="19776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第四角 max test</a:t>
              </a:r>
              <a:endParaRPr lang="zh-CN" sz="1650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85560" y="4594860"/>
              <a:ext cx="34480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所有样方共用同一条性状向量 → CWM 直接对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85560" y="48615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环境回归会严重膨胀第一类错误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85560" y="524256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本研究：同时置换样方端与物种端，取 max p</a:t>
              </a:r>
              <a:endParaRPr lang="zh-CN" sz="120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86512" y="5536406"/>
              <a:ext cx="2254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朴素回归多判 1.27–2.72 倍，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86512" y="5803106"/>
              <a:ext cx="19345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21–54% 的具体结论被推翻</a:t>
              </a:r>
              <a:endParaRPr lang="zh-CN" sz="1125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522821" y="65351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8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470951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中国本土性状数据集：验证与补缺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69548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五份《生物多样性》数据论文——与全球库互不依赖，因此一致性是对双方的检验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381000" y="1295400"/>
            <a:ext cx="11430000" cy="2381250"/>
            <a:chOff x="381000" y="1295400"/>
            <a:chExt cx="11430000" cy="2381250"/>
          </a:xfrm>
        </p:grpSpPr>
        <p:sp>
          <p:nvSpPr>
            <p:cNvPr id="9" name="Rectangle 9"/>
            <p:cNvSpPr/>
            <p:nvPr/>
          </p:nvSpPr>
          <p:spPr>
            <a:xfrm>
              <a:off x="381000" y="1295400"/>
              <a:ext cx="5524500" cy="2381250"/>
            </a:xfrm>
            <a:prstGeom prst="roundRect">
              <a:avLst>
                <a:gd name="adj" fmla="val 1600"/>
              </a:avLst>
            </a:prstGeom>
            <a:solidFill>
              <a:srgbClr val="F7FAFD"/>
            </a:solidFill>
            <a:ln w="9525">
              <a:solidFill>
                <a:srgbClr val="D6E4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1502" y="1484471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数据来源</a:t>
              </a:r>
              <a:endPara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5312" y="1840706"/>
              <a:ext cx="2797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 591 种 Song, Chen &amp; Wang 2022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5312" y="2107406"/>
              <a:ext cx="2887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蜥蜴 226 种 Zhong, Chen &amp; Wang 2022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5312" y="2374106"/>
              <a:ext cx="3068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鸟类 1,483 种 Wang, Song &amp; Zhong 2021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5312" y="2640806"/>
              <a:ext cx="24849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蛇类 341 种 Wang J. et al. 2023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5312" y="2907506"/>
              <a:ext cx="2288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2182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哺乳 754 种 Ding et al. 2022</a:t>
              </a:r>
              <a:endParaRPr lang="zh-CN" sz="1125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7218" y="3285649"/>
              <a:ext cx="34138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生物多样性 30:21520 doi:10.17520/biods.2021520</a:t>
              </a:r>
              <a:endParaRPr lang="zh-CN" sz="97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34100" y="1295400"/>
              <a:ext cx="5676900" cy="2381250"/>
            </a:xfrm>
            <a:prstGeom prst="roundRect">
              <a:avLst>
                <a:gd name="adj" fmla="val 1600"/>
              </a:avLst>
            </a:prstGeom>
            <a:solidFill>
              <a:srgbClr val="F7FAFD"/>
            </a:solidFill>
            <a:ln w="9525">
              <a:solidFill>
                <a:srgbClr val="D6E4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44602" y="1484471"/>
              <a:ext cx="381671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交叉验证：13 项对比中 12 项 r ≥ 0.93</a:t>
              </a:r>
              <a:endPara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48412" y="1859756"/>
              <a:ext cx="2246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鸟类体重 n = 1,049 </a:t>
              </a:r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 = 0.992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48412" y="212645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哺乳体长 n = 483 </a:t>
              </a:r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 = 0.986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48412" y="239315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哺乳体重 n = 391 </a:t>
              </a:r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 = 0.974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48412" y="2659856"/>
              <a:ext cx="2394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爬行生境宽度 n = 146 r = 0.959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48412" y="2926556"/>
              <a:ext cx="3815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两栖窝卵数 n = 129 </a:t>
              </a:r>
              <a:r>
                <a:rPr lang="zh-CN" sz="1125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 = 0.300</a:t>
              </a:r>
              <a:r>
                <a:rPr lang="zh-CN" sz="1125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（Spearman 0.821）</a:t>
              </a:r>
              <a:endParaRPr lang="zh-CN" sz="1125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0318" y="3285649"/>
              <a:ext cx="33212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排序一致但数值不一致 → 定义差异，该性状本就未用</a:t>
              </a:r>
              <a:endParaRPr lang="zh-CN" sz="975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26" name="Rectangle 26"/>
          <p:cNvSpPr/>
          <p:nvPr/>
        </p:nvSpPr>
        <p:spPr>
          <a:xfrm>
            <a:off x="381000" y="3848100"/>
            <a:ext cx="5524500" cy="2400300"/>
          </a:xfrm>
          <a:prstGeom prst="roundRect">
            <a:avLst>
              <a:gd name="adj" fmla="val 1587"/>
            </a:avLst>
          </a:prstGeom>
          <a:solidFill>
            <a:srgbClr val="EAF3FB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81000" y="3848100"/>
            <a:ext cx="47625" cy="24003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91502" y="4037171"/>
            <a:ext cx="15658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覆盖率的净提升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595312" y="4412456"/>
            <a:ext cx="2787968" cy="1688306"/>
            <a:chOff x="595312" y="4412456"/>
            <a:chExt cx="2787968" cy="1688306"/>
          </a:xfrm>
        </p:grpSpPr>
        <p:sp>
          <p:nvSpPr>
            <p:cNvPr id="29" name="TextBox 29"/>
            <p:cNvSpPr txBox="1"/>
            <p:nvPr/>
          </p:nvSpPr>
          <p:spPr>
            <a:xfrm>
              <a:off x="595312" y="4412456"/>
              <a:ext cx="21563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活动节律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29.2% → </a:t>
              </a:r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44.5%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5312" y="4698206"/>
              <a:ext cx="21563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两栖垂直生境 88.6% → </a:t>
              </a:r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94.7%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5312" y="4983956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鸟类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体长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87.5% → </a:t>
              </a:r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100%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5312" y="5269706"/>
              <a:ext cx="2649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哺乳・爬行 92.7–100% → 几乎无提升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6265" y="565880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哺乳与爬行的全球库覆盖本就接近饱和，</a:t>
              </a:r>
              <a:endParaRPr lang="zh-CN" sz="105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6265" y="58874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这些数据的主要价值是</a:t>
              </a:r>
              <a:r>
                <a:rPr lang="zh-CN" sz="1050" b="1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验证</a:t>
              </a:r>
              <a:r>
                <a:rPr lang="zh-CN" sz="1050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而非补缺</a:t>
              </a:r>
              <a:endParaRPr lang="zh-CN" sz="105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6" name="Rectangle 36"/>
          <p:cNvSpPr/>
          <p:nvPr/>
        </p:nvSpPr>
        <p:spPr>
          <a:xfrm>
            <a:off x="6134100" y="3848100"/>
            <a:ext cx="5676900" cy="2400300"/>
          </a:xfrm>
          <a:prstGeom prst="roundRect">
            <a:avLst>
              <a:gd name="adj" fmla="val 1587"/>
            </a:avLst>
          </a:prstGeom>
          <a:solidFill>
            <a:srgbClr val="FFF8F2"/>
          </a:solidFill>
          <a:ln w="9525">
            <a:solidFill>
              <a:srgbClr val="F0D4BC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34100" y="3848100"/>
            <a:ext cx="47625" cy="24003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344602" y="4037171"/>
            <a:ext cx="28770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一个差点毁掉结果的解析陷阱</a:t>
            </a:r>
            <a:endParaRPr lang="zh-CN" sz="1425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6348412" y="4431506"/>
            <a:ext cx="3220224" cy="1776413"/>
            <a:chOff x="6348412" y="4431506"/>
            <a:chExt cx="3220224" cy="1776413"/>
          </a:xfrm>
        </p:grpSpPr>
        <p:sp>
          <p:nvSpPr>
            <p:cNvPr id="39" name="TextBox 39"/>
            <p:cNvSpPr txBox="1"/>
            <p:nvPr/>
          </p:nvSpPr>
          <p:spPr>
            <a:xfrm>
              <a:off x="6348412" y="4431506"/>
              <a:ext cx="2994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这些表把测量值写成区间：</a:t>
              </a:r>
              <a:r>
                <a:rPr lang="zh-CN" sz="1125" dirty="0">
                  <a:solidFill>
                    <a:srgbClr val="333333"/>
                  </a:solidFill>
                  <a:latin typeface="Consolas"/>
                  <a:ea typeface="微软雅黑"/>
                  <a:cs typeface="Consolas"/>
                </a:rPr>
                <a:t>"1010~1210"</a:t>
              </a:r>
              <a:endParaRPr lang="zh-CN" sz="1125" dirty="0">
                <a:solidFill>
                  <a:srgbClr val="333333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8412" y="4717256"/>
              <a:ext cx="3068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用 </a:t>
              </a:r>
              <a:r>
                <a:rPr lang="zh-CN" sz="1125" dirty="0">
                  <a:solidFill>
                    <a:srgbClr val="333333"/>
                  </a:solidFill>
                  <a:latin typeface="Consolas"/>
                  <a:ea typeface="微软雅黑"/>
                  <a:cs typeface="Consolas"/>
                </a:rPr>
                <a:t>gsub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剥离非数字字符会拼成 </a:t>
              </a:r>
              <a:r>
                <a:rPr lang="zh-CN" sz="1125" b="1" dirty="0">
                  <a:solidFill>
                    <a:srgbClr val="333333"/>
                  </a:solidFill>
                  <a:latin typeface="Consolas"/>
                  <a:ea typeface="微软雅黑"/>
                  <a:cs typeface="Consolas"/>
                </a:rPr>
                <a:t>10101210</a:t>
              </a:r>
              <a:endParaRPr lang="zh-CN" sz="1125" b="1" dirty="0">
                <a:solidFill>
                  <a:srgbClr val="333333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48412" y="5003006"/>
              <a:ext cx="17192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——一条 10 公里长的蛇</a:t>
              </a:r>
              <a:endParaRPr lang="zh-CN" sz="1125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48412" y="536495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首次运行因此出现雌雄相差一万倍的荒谬值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8412" y="5707856"/>
              <a:ext cx="32202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修正后：两栖可用分性别体长 76 → 472 种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0318" y="6009799"/>
              <a:ext cx="2787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缺失值还写作字符串 "NA"，is.na() 会漏判</a:t>
              </a:r>
              <a:endParaRPr lang="zh-CN" sz="97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5228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9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5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090738"/>
            <a:ext cx="1892356" cy="198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0" b="1" dirty="0">
                <a:solidFill>
                  <a:srgbClr val="4FA3E3">
                    <a:alphaMod val="35000"/>
                  </a:srgbClr>
                </a:solidFill>
                <a:latin typeface="Arial" panose="020B0604020202090204"/>
                <a:ea typeface="微软雅黑"/>
                <a:cs typeface="Arial" panose="020B0604020202090204"/>
              </a:rPr>
              <a:t>03</a:t>
            </a:r>
            <a:endParaRPr lang="zh-CN" sz="9750" b="1" dirty="0">
              <a:solidFill>
                <a:srgbClr val="4FA3E3">
                  <a:alphaMod val="35000"/>
                </a:srgbClr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3435" y="3723322"/>
            <a:ext cx="5378291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结果：性状格局与驱动</a:t>
            </a:r>
            <a:endParaRPr lang="zh-CN" sz="34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876300" y="447675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8200" y="4791075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FCBEA"/>
                </a:solidFill>
                <a:latin typeface="Arial" panose="020B0604020202090204"/>
                <a:ea typeface="微软雅黑"/>
                <a:cs typeface="Arial" panose="020B0604020202090204"/>
              </a:rPr>
              <a:t>包括两条与我们自己预期相反的结果</a:t>
            </a:r>
            <a:endParaRPr lang="zh-CN" sz="1500" dirty="0">
              <a:solidFill>
                <a:srgbClr val="9FCB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502005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功能结构：零模型的选择是决定性的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56535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SES &lt; 0 = 群落性状比同丰富度随机组合更相似（环境过滤主导）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828" y="1238250"/>
            <a:ext cx="6062894" cy="381000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53390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5339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96362" y="17835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占据加权零模型（主分析）：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94458" y="2091214"/>
            <a:ext cx="22613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rPr>
              <a:t>鸟类 −0.84 哺乳类 −0.90</a:t>
            </a:r>
            <a:endParaRPr lang="zh-CN" sz="1275" b="1" dirty="0">
              <a:solidFill>
                <a:srgbClr val="B2182B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94458" y="2357914"/>
            <a:ext cx="24568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E6E8E"/>
                </a:solidFill>
                <a:latin typeface="Arial" panose="020B0604020202090204"/>
                <a:ea typeface="微软雅黑"/>
                <a:cs typeface="Arial" panose="020B0604020202090204"/>
              </a:rPr>
              <a:t>爬行类 −1.13 两栖类 +0.08</a:t>
            </a:r>
            <a:endParaRPr lang="zh-CN" sz="1275" b="1" dirty="0">
              <a:solidFill>
                <a:srgbClr val="2E6E8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9010650" y="2705100"/>
            <a:ext cx="2571750" cy="1066800"/>
          </a:xfrm>
          <a:prstGeom prst="roundRect">
            <a:avLst>
              <a:gd name="adj" fmla="val 3571"/>
            </a:avLst>
          </a:prstGeom>
          <a:solidFill>
            <a:srgbClr val="FFF4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47810" y="2823210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等概率零模型会怎样？</a:t>
            </a:r>
            <a:endParaRPr lang="zh-CN" sz="1200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8762" y="3078956"/>
            <a:ext cx="22877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鸟 −1.68 兽 −1.26 爬行 −1.88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8762" y="3307556"/>
            <a:ext cx="20084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两栖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+1.70（假的超离散）</a:t>
            </a:r>
            <a:endParaRPr lang="zh-CN" sz="1125" b="1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9715" y="3563302"/>
            <a:ext cx="16292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聚集被夸大 1.4–2.0 倍</a:t>
            </a:r>
            <a:endParaRPr lang="zh-CN" sz="1050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96362" y="39552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等概率抽样把狭域特有种与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96362" y="41838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广布种视为等可能，而真实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6362" y="44124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群落由广布种主导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6362" y="4831556"/>
            <a:ext cx="20988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两栖类的「超离散」经三条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96362" y="5060156"/>
            <a:ext cx="15812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独立路径确认不存在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998268" y="5419249"/>
            <a:ext cx="26306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换零模型 / 换实测性状 / 换中国本土数据</a:t>
            </a:r>
            <a:endParaRPr lang="zh-CN" sz="975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51295"/>
            <a:ext cx="2382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999 次零模型；两套零模型结果均已输出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11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408844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核心检验：变温类群耦合更强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58507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以 33 个科为重复单元（恒温 21 / 变温 12），纲/目 嵌套随机效应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185" y="1238250"/>
            <a:ext cx="6125210" cy="502158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53390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5339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9010650" y="1771650"/>
            <a:ext cx="257175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FDD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149715" y="19059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总体耦合</a:t>
            </a:r>
            <a:endParaRPr lang="zh-CN" sz="1050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39238" y="2121694"/>
            <a:ext cx="83834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1.72×</a:t>
            </a:r>
            <a:endParaRPr lang="zh-CN" sz="187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87012" y="2202656"/>
            <a:ext cx="7597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P = 0.019</a:t>
            </a:r>
            <a:endParaRPr lang="zh-CN" sz="1125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9010650" y="2533650"/>
            <a:ext cx="257175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FDD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149715" y="26679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热能量轴</a:t>
            </a:r>
            <a:endParaRPr lang="zh-CN" sz="1050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39238" y="2883694"/>
            <a:ext cx="83834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1.79×</a:t>
            </a:r>
            <a:endParaRPr lang="zh-CN" sz="187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387012" y="2964656"/>
            <a:ext cx="7597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P = 0.017</a:t>
            </a:r>
            <a:endParaRPr lang="zh-CN" sz="1125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9010650" y="3295650"/>
            <a:ext cx="257175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FDD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149715" y="34299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人为压力轴</a:t>
            </a:r>
            <a:endParaRPr lang="zh-CN" sz="1050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139238" y="3645694"/>
            <a:ext cx="83834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rPr>
              <a:t>1.95×</a:t>
            </a:r>
            <a:endParaRPr lang="zh-CN" sz="1875" b="1" dirty="0">
              <a:solidFill>
                <a:srgbClr val="CC000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387012" y="3726656"/>
            <a:ext cx="7597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P = 0.005</a:t>
            </a:r>
            <a:endParaRPr lang="zh-CN" sz="1125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96362" y="4183856"/>
            <a:ext cx="2090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30 个「响应 × 环境轴」对比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996362" y="4412456"/>
            <a:ext cx="11869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30/30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 方向一致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96362" y="4774406"/>
            <a:ext cx="1622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留一纲检验 15 个组合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996362" y="5003006"/>
            <a:ext cx="2427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比值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100% 大于 1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（1.41–2.49）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997315" y="53921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对零模型稳健：比值几乎不变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69570" y="6551295"/>
            <a:ext cx="3493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空间自回归的标准化效应量；Wilcoxon 与嵌套混合模型并报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12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315682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人为过滤：与预期相反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53775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原假设：体型大、生活史慢的恒温类群应更敏感——被数据否定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157" y="1238250"/>
            <a:ext cx="6246236" cy="40957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38150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381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96362" y="17835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人为压力轴的耦合强度：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93505" y="2083118"/>
            <a:ext cx="24771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rPr>
              <a:t>变温 0.073 vs 恒温 0.038</a:t>
            </a:r>
            <a:endParaRPr lang="zh-CN" sz="1350" b="1" dirty="0">
              <a:solidFill>
                <a:srgbClr val="B2182B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87790" y="2358390"/>
            <a:ext cx="247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rPr>
              <a:t>1.95 倍 P = 0.0047</a:t>
            </a:r>
            <a:endParaRPr lang="zh-CN" sz="1800" b="1" dirty="0">
              <a:solidFill>
                <a:srgbClr val="CC000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96362" y="2850356"/>
            <a:ext cx="2041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留一纲检验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4/5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 情景显著，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96362" y="30789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是最稳健的单项结果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95410" y="34709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解释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996362" y="37647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内温性提供的生理独立性同时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96362" y="39933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缓冲了自然的与人为的梯度；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96362" y="42219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变温动物依赖微生境的热与水，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96362" y="44505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而土地利用改变的正是微生境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7315" y="48777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范围图对细尺度土地利用不敏感，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7315" y="50873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故此处的人为效应是保守下界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69570" y="6551295"/>
            <a:ext cx="2178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50 km 网格；GAM 平滑与 95% 置信带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13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470951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功能冗余：一条不依赖模型的证据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36030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相邻网格间，物种换掉了——功能变了吗？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914" y="1238250"/>
            <a:ext cx="4922721" cy="44386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38150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381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96362" y="1764506"/>
            <a:ext cx="24685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功能 β / 分类 β（相邻网格对）：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9010650" y="2057400"/>
            <a:ext cx="253365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FDD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127808" y="2138839"/>
            <a:ext cx="9122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rPr>
              <a:t>鸟类 0.19</a:t>
            </a:r>
            <a:endParaRPr lang="zh-CN" sz="1275" b="1" dirty="0">
              <a:solidFill>
                <a:srgbClr val="B2182B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9010650" y="2419350"/>
            <a:ext cx="253365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FDD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127808" y="2500789"/>
            <a:ext cx="11077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E8A33D"/>
                </a:solidFill>
                <a:latin typeface="Arial" panose="020B0604020202090204"/>
                <a:ea typeface="微软雅黑"/>
                <a:cs typeface="Arial" panose="020B0604020202090204"/>
              </a:rPr>
              <a:t>哺乳类 0.34</a:t>
            </a:r>
            <a:endParaRPr lang="zh-CN" sz="1275" b="1" dirty="0">
              <a:solidFill>
                <a:srgbClr val="E8A33D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9010650" y="2781300"/>
            <a:ext cx="253365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FDD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127808" y="2862739"/>
            <a:ext cx="11077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E6E8E"/>
                </a:solidFill>
                <a:latin typeface="Arial" panose="020B0604020202090204"/>
                <a:ea typeface="微软雅黑"/>
                <a:cs typeface="Arial" panose="020B0604020202090204"/>
              </a:rPr>
              <a:t>爬行类 0.66</a:t>
            </a:r>
            <a:endParaRPr lang="zh-CN" sz="1275" b="1" dirty="0">
              <a:solidFill>
                <a:srgbClr val="2E6E8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96362" y="32885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鸟类的功能组成周转只有物种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96362" y="3517106"/>
            <a:ext cx="20084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周转的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19%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——高度功能冗余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96362" y="38981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爬行类几乎与物种同步改变，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6362" y="41267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缺乏这种冗余缓冲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6362" y="4545806"/>
            <a:ext cx="24438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不依赖任何回归模型或效应量，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96362" y="4774406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因而不受回归衰减影响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997315" y="5182552"/>
            <a:ext cx="1958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K = 10 / 20 / 30 下排序不变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51295"/>
            <a:ext cx="3670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7,344 对相邻网格；Baselga (2010) 分解；999 次 bootstrap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14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346736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过滤器的身份随地理变化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9525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47860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不只是强度不同——被过滤的「是哪个性状」本身就在变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" y="1295400"/>
            <a:ext cx="7868920" cy="537464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28625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28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96362" y="1764506"/>
            <a:ext cx="21892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每格取 |SES 均值| 最大的性状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96362" y="19931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作为「主导被过滤性状」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95410" y="23850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恒温类群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96362" y="26789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几乎处处由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分布范围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主导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96362" y="2907506"/>
            <a:ext cx="14909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（鸟 94%、兽 78%）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95410" y="32994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爬行类一分为二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996362" y="3593306"/>
            <a:ext cx="19920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北方与东北：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生境宽度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 44%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96362" y="3821906"/>
            <a:ext cx="14991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南方：分布范围 42%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96362" y="4221956"/>
            <a:ext cx="20988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沿热能量梯度，过滤器身份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96362" y="4450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随气候带切换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6362" y="48506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哺乳类在青藏高原切换为体长；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6362" y="50792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鸟类在最暖端切换为体型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69570" y="655129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此前无人展示过过滤器身份的地理变化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15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2846284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功能分区与胡焕庸线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43916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仅用性状结构做无监督聚类——它自己找到了那条线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270" y="1238250"/>
            <a:ext cx="6136010" cy="419100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28625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28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96362" y="1764506"/>
            <a:ext cx="27067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对每格 12 维 SES 剖面做 k-means，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96362" y="19931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簇数由轮廓系数自动选择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95410" y="238506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三个纲各自独立地把中国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95410" y="2632710"/>
            <a:ext cx="2155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划成西北–东南两大功能区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96362" y="30408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与胡焕庸线的一致率：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94458" y="3329464"/>
            <a:ext cx="27208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rPr>
              <a:t>鸟 79.7% 爬行 76.8% 兽 74.5%</a:t>
            </a:r>
            <a:endParaRPr lang="zh-CN" sz="1275" b="1" dirty="0">
              <a:solidFill>
                <a:srgbClr val="B2182B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996362" y="3612356"/>
            <a:ext cx="1622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Cohen κ = 0.50–0.56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96362" y="4031456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该线未进入任何输入，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96362" y="4260056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因此是真正的外部验证</a:t>
            </a:r>
            <a:endParaRPr lang="zh-CN" sz="1125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97315" y="4668202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属中等吻合而非重合——西南段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7315" y="48777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功能边界偏东南；哺乳类另分出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7315" y="50873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青藏高原为独立第三区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69570" y="6551295"/>
            <a:ext cx="1803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虚线为胡焕庸线（黑河–腾冲）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16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090738"/>
            <a:ext cx="1892356" cy="198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0" b="1" dirty="0">
                <a:solidFill>
                  <a:srgbClr val="4FA3E3">
                    <a:alphaMod val="35000"/>
                  </a:srgbClr>
                </a:solidFill>
                <a:latin typeface="Arial" panose="020B0604020202090204"/>
                <a:ea typeface="微软雅黑"/>
                <a:cs typeface="Arial" panose="020B0604020202090204"/>
              </a:rPr>
              <a:t>04</a:t>
            </a:r>
            <a:endParaRPr lang="zh-CN" sz="9750" b="1" dirty="0">
              <a:solidFill>
                <a:srgbClr val="4FA3E3">
                  <a:alphaMod val="35000"/>
                </a:srgbClr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3435" y="3723322"/>
            <a:ext cx="4320159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保护评估与新维度</a:t>
            </a:r>
            <a:endParaRPr lang="zh-CN" sz="34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876300" y="447675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8200" y="4791075"/>
            <a:ext cx="3346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FCBEA"/>
                </a:solidFill>
                <a:latin typeface="Arial" panose="020B0604020202090204"/>
                <a:ea typeface="微软雅黑"/>
                <a:cs typeface="Arial" panose="020B0604020202090204"/>
              </a:rPr>
              <a:t>保护空缺・保护地有效性・性二态性</a:t>
            </a:r>
            <a:endParaRPr lang="zh-CN" sz="1500" dirty="0">
              <a:solidFill>
                <a:srgbClr val="9FCB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7625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346736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保护空缺与保护地有效性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62056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高性状多样性 + 零保护覆盖 = 空缺；倾向匹配回答「保护地是否有效」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700" y="1555750"/>
            <a:ext cx="4686935" cy="4995545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47675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476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96362" y="1783556"/>
            <a:ext cx="30928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全国保护区覆盖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10.31%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（国家级 8.38%）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9010650" y="2057400"/>
            <a:ext cx="2571750" cy="781050"/>
          </a:xfrm>
          <a:prstGeom prst="roundRect">
            <a:avLst>
              <a:gd name="adj" fmla="val 4878"/>
            </a:avLst>
          </a:prstGeom>
          <a:solidFill>
            <a:srgbClr val="FFF4E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147810" y="21755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保护空缺网格</a:t>
            </a:r>
            <a:endParaRPr lang="zh-CN" sz="1200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3048" y="2458879"/>
            <a:ext cx="336104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rPr>
              <a:t>鸟 14.4% 兽 14.0% 爬行 15.5%</a:t>
            </a:r>
            <a:endParaRPr lang="zh-CN" sz="1575" b="1" dirty="0">
              <a:solidFill>
                <a:srgbClr val="CC000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96362" y="2983706"/>
            <a:ext cx="23206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这些网格性状多样性居前 25%，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96362" y="3212306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而保护地覆盖恰为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0</a:t>
            </a:r>
            <a:endParaRPr lang="zh-CN" sz="1125" b="1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995410" y="36042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倾向匹配比较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96362" y="38981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在环境相似的格间配对后：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96362" y="4164806"/>
            <a:ext cx="22302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鸟 </a:t>
            </a:r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+0.18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 兽 </a:t>
            </a:r>
            <a:r>
              <a: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+0.14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（保护地内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96362" y="4393406"/>
            <a:ext cx="21481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功能离散度更高，P &lt; 10⁻³）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6362" y="4660106"/>
            <a:ext cx="18441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爬行 </a:t>
            </a:r>
            <a:r>
              <a:rPr lang="zh-CN" sz="1125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rPr>
              <a:t>−0.19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（方向相反）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6362" y="5060156"/>
            <a:ext cx="20988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保护空缺的跨类群重叠很低</a:t>
            </a:r>
            <a:endParaRPr lang="zh-CN" sz="1125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96362" y="5288756"/>
            <a:ext cx="18227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Jaccard 仅 0.18–0.32</a:t>
            </a:r>
            <a:endParaRPr lang="zh-CN" sz="1125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998268" y="5533549"/>
            <a:ext cx="24241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→ 按单一类群划保护地会漏掉其他类群</a:t>
            </a:r>
            <a:endParaRPr lang="zh-CN" sz="975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51295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全国自然保护区矢量边界；匹配变量为五个环境轴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18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1905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408844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性二态性：全球库没有的维度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74379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AVONET / COMBINE / TetrapodTraits 每种只给一个体型值；中国数据集分性别记录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196" y="1238250"/>
            <a:ext cx="6034258" cy="42862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763000" y="1238250"/>
            <a:ext cx="3067050" cy="4476750"/>
          </a:xfrm>
          <a:prstGeom prst="roundRect">
            <a:avLst>
              <a:gd name="adj" fmla="val 1242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0" y="1238250"/>
            <a:ext cx="47625" cy="4476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92552" y="1427321"/>
            <a:ext cx="4732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要点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96362" y="1764506"/>
            <a:ext cx="2723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SSD = log₁₀(雌 / 雄)，0 为对称中心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95410" y="20993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覆盖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96362" y="2374106"/>
            <a:ext cx="2180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鸟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94.3%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（1,110 种，体重）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96362" y="26027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两栖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62.7%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（319 种，体长）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96362" y="283130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蛇 16.0%（83 种，标准体长）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9010650" y="3105150"/>
            <a:ext cx="2571750" cy="609600"/>
          </a:xfrm>
          <a:prstGeom prst="roundRect">
            <a:avLst>
              <a:gd name="adj" fmla="val 6250"/>
            </a:avLst>
          </a:prstGeom>
          <a:solidFill>
            <a:srgbClr val="FFF4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148762" y="32313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哺乳类缺席</a:t>
            </a:r>
            <a:endParaRPr lang="zh-CN" sz="1125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9715" y="34680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所有数据源都不分性别记录</a:t>
            </a:r>
            <a:endParaRPr lang="zh-CN" sz="1050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95410" y="38900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格局与教科书一致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96362" y="4183856"/>
            <a:ext cx="13841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鸟类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70% 雄性更大</a:t>
            </a:r>
            <a:endParaRPr lang="zh-CN" sz="1125" b="1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6362" y="4412456"/>
            <a:ext cx="13841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两栖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81% 雌性更大</a:t>
            </a:r>
            <a:endParaRPr lang="zh-CN" sz="1125" b="1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6362" y="4641056"/>
            <a:ext cx="13841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蛇类 56% 雌性更大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97315" y="504920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这一致性反证了解析正确</a:t>
            </a:r>
            <a:endParaRPr lang="zh-CN" sz="1050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996362" y="5307806"/>
            <a:ext cx="2180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蛇类 SSD 受生产力(+0.22)与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96362" y="551735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人类压力(+0.17)驱动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69570" y="6551295"/>
            <a:ext cx="40976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Song 2022・Wang J. 2023・Wang 2021；空间自回归框架与主分析一致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19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343630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群落尺度的 Rensch 法则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FF0E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518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群落值就是物种值的平均——所以必须证明它不只是算术继承</a:t>
            </a:r>
            <a:endParaRPr lang="zh-CN" sz="1350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381000" y="1333500"/>
            <a:ext cx="11430000" cy="3162300"/>
            <a:chOff x="381000" y="1333500"/>
            <a:chExt cx="11430000" cy="3162300"/>
          </a:xfrm>
        </p:grpSpPr>
        <p:sp>
          <p:nvSpPr>
            <p:cNvPr id="9" name="Rectangle 9"/>
            <p:cNvSpPr/>
            <p:nvPr/>
          </p:nvSpPr>
          <p:spPr>
            <a:xfrm>
              <a:off x="381000" y="1333500"/>
              <a:ext cx="11430000" cy="571500"/>
            </a:xfrm>
            <a:prstGeom prst="roundRect">
              <a:avLst>
                <a:gd name="adj" fmla="val 6667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69684" y="1525429"/>
              <a:ext cx="645263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Rensch 法则：SSD 随体型系统变化（雄性偏向的异速生长）</a:t>
              </a:r>
              <a:endParaRPr lang="zh-CN" sz="157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" y="2114550"/>
              <a:ext cx="11430000" cy="495300"/>
            </a:xfrm>
            <a:prstGeom prst="rect">
              <a:avLst/>
            </a:prstGeom>
            <a:solidFill>
              <a:srgbClr val="EAF3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0105" y="22926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类群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83355" y="2292668"/>
              <a:ext cx="10383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物种尺度 r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40855" y="2292668"/>
              <a:ext cx="10383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群落尺度 r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93605" y="22926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放大倍数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1000" y="2609850"/>
              <a:ext cx="11430000" cy="628650"/>
            </a:xfrm>
            <a:prstGeom prst="rect">
              <a:avLst/>
            </a:prstGeom>
            <a:solidFill>
              <a:srgbClr val="FDF0E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8200" y="28479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2182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鸟类</a:t>
              </a:r>
              <a:endParaRPr lang="zh-CN" sz="1500" b="1" dirty="0">
                <a:solidFill>
                  <a:srgbClr val="B2182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81450" y="2847975"/>
              <a:ext cx="7610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−0.085</a:t>
              </a:r>
              <a:endParaRPr lang="zh-CN" sz="15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38950" y="2847975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−0.508</a:t>
              </a:r>
              <a:endParaRPr lang="zh-CN" sz="15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85985" y="2799398"/>
              <a:ext cx="7074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C000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6.0×</a:t>
              </a:r>
              <a:endParaRPr lang="zh-CN" sz="1950" b="1" dirty="0">
                <a:solidFill>
                  <a:srgbClr val="CC000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3238500"/>
              <a:ext cx="11430000" cy="62865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8200" y="347662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C9A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两栖类</a:t>
              </a:r>
              <a:endParaRPr lang="zh-CN" sz="1500" b="1" dirty="0">
                <a:solidFill>
                  <a:srgbClr val="4C9A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81450" y="3476625"/>
              <a:ext cx="7610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−0.380</a:t>
              </a:r>
              <a:endParaRPr lang="zh-CN" sz="15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38950" y="3476625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−0.749</a:t>
              </a:r>
              <a:endParaRPr lang="zh-CN" sz="15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85985" y="3428048"/>
              <a:ext cx="7074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2.0×</a:t>
              </a:r>
              <a:endParaRPr lang="zh-CN" sz="19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3867150"/>
              <a:ext cx="11430000" cy="62865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8200" y="41052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6E8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蛇类</a:t>
              </a:r>
              <a:endParaRPr lang="zh-CN" sz="1500" b="1" dirty="0">
                <a:solidFill>
                  <a:srgbClr val="2E6E8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81450" y="4105275"/>
              <a:ext cx="7610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−0.346</a:t>
              </a:r>
              <a:endParaRPr lang="zh-CN" sz="15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38950" y="4105275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+0.015</a:t>
              </a:r>
              <a:endParaRPr lang="zh-CN" sz="15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85985" y="4056698"/>
              <a:ext cx="8718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8A6D1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0.04×</a:t>
              </a:r>
              <a:endParaRPr lang="zh-CN" sz="1950" b="1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381000" y="4762500"/>
            <a:ext cx="5581650" cy="1504950"/>
          </a:xfrm>
          <a:prstGeom prst="roundRect">
            <a:avLst>
              <a:gd name="adj" fmla="val 2532"/>
            </a:avLst>
          </a:prstGeom>
          <a:solidFill>
            <a:srgbClr val="EAF3FB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" y="4762500"/>
            <a:ext cx="47625" cy="15049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10552" y="4951571"/>
            <a:ext cx="26585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鸟类：空间共现的额外贡献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13410" y="5318760"/>
            <a:ext cx="2685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群落尺度的关系比物种尺度</a:t>
            </a:r>
            <a:r>
              <a:rPr lang="zh-CN" sz="12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强 6 倍</a:t>
            </a:r>
            <a:endParaRPr lang="zh-CN" sz="1200" b="1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13410" y="560451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→ 空间过程把物种筛选成</a:t>
            </a:r>
            <a:endParaRPr lang="zh-CN" sz="1200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13410" y="589026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「大体型群落更偏雄性」</a:t>
            </a:r>
            <a:endParaRPr lang="zh-CN" sz="1200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6229350" y="4762500"/>
            <a:ext cx="5581650" cy="1504950"/>
          </a:xfrm>
          <a:prstGeom prst="roundRect">
            <a:avLst>
              <a:gd name="adj" fmla="val 2532"/>
            </a:avLst>
          </a:prstGeom>
          <a:solidFill>
            <a:srgbClr val="FFF8F2"/>
          </a:solidFill>
          <a:ln w="9525">
            <a:solidFill>
              <a:srgbClr val="F0D4BC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229350" y="4762500"/>
            <a:ext cx="47625" cy="15049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58902" y="4951571"/>
            <a:ext cx="17844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蛇类：相反的情形</a:t>
            </a:r>
            <a:endParaRPr lang="zh-CN" sz="1425" b="1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461760" y="5318760"/>
            <a:ext cx="33166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物种尺度存在明确的异速生长（−0.35），</a:t>
            </a:r>
            <a:endParaRPr lang="zh-CN" sz="1200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461760" y="5604510"/>
            <a:ext cx="26155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但在空间上被</a:t>
            </a:r>
            <a:r>
              <a:rPr lang="zh-CN" sz="12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完全抹平</a:t>
            </a:r>
            <a:r>
              <a: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（+0.02）</a:t>
            </a:r>
            <a:endParaRPr lang="zh-CN" sz="1200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463665" y="5906452"/>
            <a:ext cx="24343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rPr>
              <a:t>仅 83 个物种，解释力弱于另外两类</a:t>
            </a:r>
            <a:endParaRPr lang="zh-CN" sz="1050" dirty="0">
              <a:solidFill>
                <a:srgbClr val="5A6B7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438477" y="65541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20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090738"/>
            <a:ext cx="1892356" cy="198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0" b="1" dirty="0">
                <a:solidFill>
                  <a:srgbClr val="4FA3E3">
                    <a:alphaMod val="35000"/>
                  </a:srgbClr>
                </a:solidFill>
                <a:latin typeface="Arial" panose="020B0604020202090204"/>
                <a:ea typeface="微软雅黑"/>
                <a:cs typeface="Arial" panose="020B0604020202090204"/>
              </a:rPr>
              <a:t>05</a:t>
            </a:r>
            <a:endParaRPr lang="zh-CN" sz="9750" b="1" dirty="0">
              <a:solidFill>
                <a:srgbClr val="4FA3E3">
                  <a:alphaMod val="35000"/>
                </a:srgbClr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3435" y="3723322"/>
            <a:ext cx="6436424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我们推翻了自己的哪些结论</a:t>
            </a:r>
            <a:endParaRPr lang="zh-CN" sz="34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876300" y="447675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8200" y="4791075"/>
            <a:ext cx="42224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FCBEA"/>
                </a:solidFill>
                <a:latin typeface="Arial" panose="020B0604020202090204"/>
                <a:ea typeface="微软雅黑"/>
                <a:cs typeface="Arial" panose="020B0604020202090204"/>
              </a:rPr>
              <a:t>稳健性检验不是走过场——它改变了三处结论</a:t>
            </a:r>
            <a:endParaRPr lang="zh-CN" sz="1500" dirty="0">
              <a:solidFill>
                <a:srgbClr val="9FCB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408844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三处被自己的检验推翻的结论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FF0E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47663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rPr>
              <a:t>这三条如果不做，都会以「显著结果」的形式进入论文</a:t>
            </a:r>
            <a:endParaRPr lang="zh-CN" sz="1350" dirty="0">
              <a:solidFill>
                <a:srgbClr val="8C2D0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381000" y="1295400"/>
            <a:ext cx="11430000" cy="5010150"/>
            <a:chOff x="381000" y="1295400"/>
            <a:chExt cx="11430000" cy="5010150"/>
          </a:xfrm>
        </p:grpSpPr>
        <p:sp>
          <p:nvSpPr>
            <p:cNvPr id="9" name="Rectangle 9"/>
            <p:cNvSpPr/>
            <p:nvPr/>
          </p:nvSpPr>
          <p:spPr>
            <a:xfrm>
              <a:off x="381000" y="1295400"/>
              <a:ext cx="11430000" cy="1581150"/>
            </a:xfrm>
            <a:prstGeom prst="roundRect">
              <a:avLst>
                <a:gd name="adj" fmla="val 2410"/>
              </a:avLst>
            </a:prstGeom>
            <a:solidFill>
              <a:srgbClr val="FFF8F2"/>
            </a:solidFill>
            <a:ln w="9525">
              <a:solidFill>
                <a:srgbClr val="F0D4B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1295400"/>
              <a:ext cx="47625" cy="15811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748" y="1487329"/>
              <a:ext cx="542612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① 零模型的抽样权重把功能聚集夸大了 1.4–2.0 倍</a:t>
              </a:r>
              <a:endParaRPr lang="zh-CN" sz="157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2462" y="1878806"/>
              <a:ext cx="5450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等概率抽样把狭域特有种与广布种视为等可能，而真实群落由广布种主导。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2462" y="2164556"/>
              <a:ext cx="64118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改为按占据网格数加权后：鸟 −1.68 → 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−0.84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，兽 −1.26 → 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−0.90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，爬行 −1.88 → 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−1.13</a:t>
              </a:r>
              <a:endPara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2462" y="2450306"/>
              <a:ext cx="39144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两栖类的「功能超离散」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完全消失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（+1.70 → +0.08）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2462" y="2678906"/>
              <a:ext cx="6161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核心的恒温/变温比值几乎不变（1.72 / 1.79 / 1.95）——结论不依赖零模型选择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1000" y="3009900"/>
              <a:ext cx="11430000" cy="1581150"/>
            </a:xfrm>
            <a:prstGeom prst="roundRect">
              <a:avLst>
                <a:gd name="adj" fmla="val 2410"/>
              </a:avLst>
            </a:prstGeom>
            <a:solidFill>
              <a:srgbClr val="FFF8F2"/>
            </a:solidFill>
            <a:ln w="9525">
              <a:solidFill>
                <a:srgbClr val="F0D4B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1000" y="3009900"/>
              <a:ext cx="47625" cy="15811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748" y="3201829"/>
              <a:ext cx="435131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② 「范围图低估人为效应」只在鸟类成立</a:t>
              </a:r>
              <a:endParaRPr lang="zh-CN" sz="157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462" y="3593306"/>
              <a:ext cx="5656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观测群落的人为效应比范围图大 6 倍——但有记录的网格本身人类压力就更高。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2462" y="3879056"/>
              <a:ext cx="64940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在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同一批 804 个网格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上重跑范围图模型：效应仍只有 0.017（观测 0.104），对照通过。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2462" y="4164806"/>
              <a:ext cx="6161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但兽/爬行/两栖只有 163–170 个可用网格，两种数据源下都不稳定，不作推广。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1000" y="4724400"/>
              <a:ext cx="11430000" cy="1581150"/>
            </a:xfrm>
            <a:prstGeom prst="roundRect">
              <a:avLst>
                <a:gd name="adj" fmla="val 2410"/>
              </a:avLst>
            </a:prstGeom>
            <a:solidFill>
              <a:srgbClr val="FFF8F2"/>
            </a:solidFill>
            <a:ln w="9525">
              <a:solidFill>
                <a:srgbClr val="F0D4B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1000" y="4724400"/>
              <a:ext cx="47625" cy="15811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748" y="4916329"/>
              <a:ext cx="483437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③ 区间记法的解析错误差点毁掉性二态性分析</a:t>
              </a:r>
              <a:endParaRPr lang="zh-CN" sz="157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2462" y="5307806"/>
              <a:ext cx="5294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数据集把测量值写成 </a:t>
              </a:r>
              <a:r>
                <a:rPr lang="zh-CN" sz="1125" dirty="0">
                  <a:solidFill>
                    <a:srgbClr val="333333"/>
                  </a:solidFill>
                  <a:latin typeface="Consolas"/>
                  <a:ea typeface="微软雅黑"/>
                  <a:cs typeface="Consolas"/>
                </a:rPr>
                <a:t>"1010~1210"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；剥离非数字字符会拼成 </a:t>
              </a:r>
              <a:r>
                <a:rPr lang="zh-CN" sz="1125" b="1" dirty="0">
                  <a:solidFill>
                    <a:srgbClr val="333333"/>
                  </a:solidFill>
                  <a:latin typeface="Consolas"/>
                  <a:ea typeface="微软雅黑"/>
                  <a:cs typeface="Consolas"/>
                </a:rPr>
                <a:t>10101210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。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2462" y="5593556"/>
              <a:ext cx="45962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首次运行出现雌雄相差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一万倍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的荒谬值——一条 10 公里长的蛇。</a:t>
              </a:r>
              <a:endPara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2462" y="5879306"/>
              <a:ext cx="58856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修正解析器后，可用的两栖分性别体长由 76 种增至 472 种，分析才立得住。</a:t>
              </a:r>
              <a:endParaRPr lang="zh-CN" sz="1125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438477" y="65541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22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315682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核心结论经受住了什么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3855" y="825818"/>
            <a:ext cx="55746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3B54"/>
                </a:solidFill>
                <a:latin typeface="Arial" panose="020B0604020202090204"/>
                <a:ea typeface="微软雅黑"/>
                <a:cs typeface="Arial" panose="020B0604020202090204"/>
              </a:rPr>
              <a:t>体温模式与「纲」近乎共线——必须证明结论不是由某一个纲驱动</a:t>
            </a:r>
            <a:endParaRPr lang="zh-CN" sz="1350" dirty="0">
              <a:solidFill>
                <a:srgbClr val="1F3B54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321" y="1238250"/>
            <a:ext cx="5810907" cy="42862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8382000" y="1238250"/>
            <a:ext cx="3448050" cy="4286250"/>
          </a:xfrm>
          <a:prstGeom prst="roundRect">
            <a:avLst>
              <a:gd name="adj" fmla="val 1105"/>
            </a:avLst>
          </a:prstGeom>
          <a:solidFill>
            <a:srgbClr val="F7FAFD"/>
          </a:solidFill>
          <a:ln w="9525">
            <a:solidFill>
              <a:srgbClr val="D6E4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382000" y="1238250"/>
            <a:ext cx="47625" cy="428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611552" y="1427321"/>
            <a:ext cx="11288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留一纲检验</a:t>
            </a:r>
            <a:endParaRPr lang="zh-CN" sz="1425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15362" y="17835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逐次剔除一个纲后重做科级检验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12505" y="2140268"/>
            <a:ext cx="24254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15 个「情景 × 指标」组合</a:t>
            </a:r>
            <a:endParaRPr lang="zh-CN" sz="1350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612505" y="2406968"/>
            <a:ext cx="30568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Arial" panose="020B0604020202090204"/>
                <a:ea typeface="微软雅黑"/>
                <a:cs typeface="Arial" panose="020B0604020202090204"/>
              </a:rPr>
              <a:t>比值 100% 大于 1（1.41–2.49）</a:t>
            </a:r>
            <a:endParaRPr lang="zh-CN" sz="1350" b="1" dirty="0">
              <a:solidFill>
                <a:srgbClr val="0066CC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615362" y="2831306"/>
            <a:ext cx="2041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人为压力轴 </a:t>
            </a:r>
            <a:r>
              <a:rPr lang="zh-CN" sz="1125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4/5</a:t>
            </a:r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 情景显著，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615362" y="30599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是最稳健的单项结果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616315" y="3468052"/>
            <a:ext cx="22962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剔除任一纲后每组仅剩 5–13 科，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616315" y="367760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单项显著性会因检验力而丢失——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616315" y="38871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6D1F"/>
                </a:solidFill>
                <a:latin typeface="Arial" panose="020B0604020202090204"/>
                <a:ea typeface="微软雅黑"/>
                <a:cs typeface="Arial" panose="020B0604020202090204"/>
              </a:rPr>
              <a:t>这是功效问题而非方向问题</a:t>
            </a:r>
            <a:endParaRPr lang="zh-CN" sz="1050" dirty="0">
              <a:solidFill>
                <a:srgbClr val="8A6D1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614410" y="42710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rPr>
              <a:t>还做了</a:t>
            </a:r>
            <a:endParaRPr lang="zh-CN" sz="1200" b="1" dirty="0">
              <a:solidFill>
                <a:srgbClr val="0033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615362" y="4564856"/>
            <a:ext cx="20824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双粒度（50 / 100 km）重复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615362" y="47934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两套零模型并列输出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615362" y="5022056"/>
            <a:ext cx="16634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第四角 max test 对照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615362" y="52506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rPr>
              <a:t>同网格对照、插补敏感性</a:t>
            </a:r>
            <a:endParaRPr lang="zh-CN" sz="1125" dirty="0">
              <a:solidFill>
                <a:srgbClr val="333333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381000" y="6400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69570" y="6551295"/>
            <a:ext cx="29343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604020202090204"/>
                <a:ea typeface="微软雅黑"/>
                <a:cs typeface="Arial" panose="020B0604020202090204"/>
              </a:rPr>
              <a:t>全部稳健性检验的输出见仓库 04_results/tables</a:t>
            </a:r>
            <a:endParaRPr lang="zh-CN" sz="900" dirty="0">
              <a:solidFill>
                <a:srgbClr val="999999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23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5282" y="219551"/>
            <a:ext cx="67251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结论</a:t>
            </a:r>
            <a:endParaRPr lang="zh-CN" sz="2025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381000" y="914400"/>
            <a:ext cx="11430000" cy="5353050"/>
            <a:chOff x="381000" y="914400"/>
            <a:chExt cx="11430000" cy="5353050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11430000" cy="990600"/>
            </a:xfrm>
            <a:prstGeom prst="roundRect">
              <a:avLst>
                <a:gd name="adj" fmla="val 3846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41985" y="1122998"/>
              <a:ext cx="662835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内温性缓冲的不只是热环境，而是整体的环境过滤</a:t>
              </a:r>
              <a:endParaRPr lang="zh-CN" sz="19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0558" y="1557814"/>
              <a:ext cx="74530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B9D9F2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变温类群的性状–环境耦合是恒温类群的 1.72 倍；对当代人类压力同样更敏感（1.95 倍）</a:t>
              </a:r>
              <a:endParaRPr lang="zh-CN" sz="1275" dirty="0">
                <a:solidFill>
                  <a:srgbClr val="B9D9F2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057400"/>
              <a:ext cx="2762250" cy="1714500"/>
            </a:xfrm>
            <a:prstGeom prst="roundRect">
              <a:avLst>
                <a:gd name="adj" fmla="val 2222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2057400"/>
              <a:ext cx="47625" cy="1714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2455" y="22545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机制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6265" y="26108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体温调节模式给出可证伪的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6265" y="28203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跨类群预测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6265" y="31442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功能冗余独立佐证：鸟类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6265" y="3353752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功能周转仅为物种的 19%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76600" y="2057400"/>
              <a:ext cx="2762250" cy="1714500"/>
            </a:xfrm>
            <a:prstGeom prst="roundRect">
              <a:avLst>
                <a:gd name="adj" fmla="val 2222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276600" y="2057400"/>
              <a:ext cx="47625" cy="1714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88055" y="22545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方法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91865" y="26108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零模型权重能把聚集夸大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1865" y="28203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1.4–2.0 倍，甚至造出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1865" y="3029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不存在的「超离散」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1865" y="3353752"/>
              <a:ext cx="2357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朴素 CWM 回归多判 1.27–2.72 倍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172200" y="2057400"/>
              <a:ext cx="2762250" cy="1714500"/>
            </a:xfrm>
            <a:prstGeom prst="roundRect">
              <a:avLst>
                <a:gd name="adj" fmla="val 2222"/>
              </a:avLst>
            </a:prstGeom>
            <a:solidFill>
              <a:srgbClr val="F4F8F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72200" y="2057400"/>
              <a:ext cx="47625" cy="1714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3655" y="22545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保护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87465" y="261080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14–16% 的高性状多样性网格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87465" y="2820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完全无保护地覆盖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87465" y="31442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空缺跨类群重叠仅 0.18–0.32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87465" y="33537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→ 单类群规划会漏掉其他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067800" y="2057400"/>
              <a:ext cx="2743200" cy="1714500"/>
            </a:xfrm>
            <a:prstGeom prst="roundRect">
              <a:avLst>
                <a:gd name="adj" fmla="val 2222"/>
              </a:avLst>
            </a:prstGeom>
            <a:solidFill>
              <a:srgbClr val="EAF3F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067800" y="2057400"/>
              <a:ext cx="47625" cy="1714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79255" y="22545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新维度</a:t>
              </a:r>
              <a:endParaRPr lang="zh-CN" sz="1350" b="1" dirty="0">
                <a:solidFill>
                  <a:srgbClr val="00336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83065" y="26108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性二态性：全球库没有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83065" y="2934652"/>
              <a:ext cx="16522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鸟类群落尺度的 Rensch</a:t>
              </a:r>
              <a:endParaRPr lang="zh-CN" sz="105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83065" y="31442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关系比物种尺度</a:t>
              </a:r>
              <a:r>
                <a:rPr lang="zh-CN" sz="105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强 6 倍</a:t>
              </a:r>
              <a:endParaRPr lang="zh-CN" sz="105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84018" y="34761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C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空间共现的额外贡献</a:t>
              </a:r>
              <a:endParaRPr lang="zh-CN" sz="975" dirty="0">
                <a:solidFill>
                  <a:srgbClr val="5A6B7C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1000" y="3924300"/>
              <a:ext cx="11430000" cy="2343150"/>
            </a:xfrm>
            <a:prstGeom prst="roundRect">
              <a:avLst>
                <a:gd name="adj" fmla="val 1626"/>
              </a:avLst>
            </a:prstGeom>
            <a:solidFill>
              <a:srgbClr val="FFF8F2"/>
            </a:solidFill>
            <a:ln w="9525">
              <a:solidFill>
                <a:srgbClr val="F0D4B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1000" y="3924300"/>
              <a:ext cx="47625" cy="23431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6748" y="4116229"/>
              <a:ext cx="17307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8C2D04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仍然存在的缺口</a:t>
              </a:r>
              <a:endParaRPr lang="zh-CN" sz="1575" b="1" dirty="0">
                <a:solidFill>
                  <a:srgbClr val="8C2D04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1510" y="4537710"/>
              <a:ext cx="72161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两栖类体重实测率仅 25.3%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——中国本土数据集只记录体长，需要实地称重，统计方法补不上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1510" y="4861560"/>
              <a:ext cx="5980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哺乳类无法进入性二态性分析</a:t>
              </a:r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——所有数据源（含中国本土）都不分性别记录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1510" y="5185410"/>
              <a:ext cx="59630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体温模式与「纲」近乎共线，为任何中国境内的检验设置了统计功效天花板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1510" y="5509260"/>
              <a:ext cx="66290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兽/爬行/两栖的 GBIF 记录密度不足（163–170 格），观测群落分析只能在鸟类完成</a:t>
              </a:r>
              <a:endParaRPr lang="zh-CN" sz="1200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1510" y="5833110"/>
              <a:ext cx="57877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· 专家范围图对细尺度土地利用不敏感，故本文报告的人为效应是</a:t>
              </a:r>
              <a:r>
                <a:rPr lang="zh-CN" sz="1200" b="1" dirty="0">
                  <a:solidFill>
                    <a:srgbClr val="333333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保守下界</a:t>
              </a:r>
              <a:endParaRPr lang="zh-CN" sz="1200" b="1" dirty="0">
                <a:solidFill>
                  <a:srgbClr val="333333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438477" y="65541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604020202090204"/>
                <a:ea typeface="微软雅黑"/>
                <a:cs typeface="Arial" panose="020B0604020202090204"/>
              </a:rPr>
              <a:t>24</a:t>
            </a:r>
            <a:endParaRPr lang="zh-CN" sz="1050" dirty="0">
              <a:solidFill>
                <a:srgbClr val="66666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76805" y="1586865"/>
            <a:ext cx="463838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数据与代码全部公开</a:t>
            </a:r>
            <a:endParaRPr lang="zh-CN" sz="330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" name="Line 5"/>
          <p:cNvSpPr/>
          <p:nvPr/>
        </p:nvSpPr>
        <p:spPr>
          <a:xfrm>
            <a:off x="4667250" y="22669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2286000" y="2647950"/>
            <a:ext cx="7620000" cy="1619250"/>
          </a:xfrm>
          <a:prstGeom prst="roundRect">
            <a:avLst>
              <a:gd name="adj" fmla="val 3529"/>
            </a:avLst>
          </a:prstGeom>
          <a:solidFill>
            <a:srgbClr val="0A467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795832" y="2929414"/>
            <a:ext cx="6003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8FC4EA"/>
                </a:solidFill>
                <a:latin typeface="Arial" panose="020B0604020202090204"/>
                <a:ea typeface="微软雅黑"/>
                <a:cs typeface="Arial" panose="020B0604020202090204"/>
              </a:rPr>
              <a:t>GitHub</a:t>
            </a:r>
            <a:endParaRPr lang="zh-CN" sz="1275" dirty="0">
              <a:solidFill>
                <a:srgbClr val="8FC4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29054" y="3278029"/>
            <a:ext cx="313389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dirty="0">
                <a:solidFill>
                  <a:srgbClr val="FFFFFF"/>
                </a:solidFill>
                <a:latin typeface="Consolas"/>
                <a:ea typeface="微软雅黑"/>
                <a:cs typeface="Consolas"/>
              </a:rPr>
              <a:t>github.com/dingchenchen6/</a:t>
            </a:r>
            <a:endParaRPr lang="zh-CN" sz="1575" dirty="0">
              <a:solidFill>
                <a:srgbClr val="FFFFFF"/>
              </a:solidFill>
              <a:latin typeface="Consolas"/>
              <a:ea typeface="微软雅黑"/>
              <a:cs typeface="Consola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948232" y="3601879"/>
            <a:ext cx="429553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dirty="0">
                <a:solidFill>
                  <a:srgbClr val="FFFFFF"/>
                </a:solidFill>
                <a:latin typeface="Consolas"/>
                <a:ea typeface="微软雅黑"/>
                <a:cs typeface="Consolas"/>
              </a:rPr>
              <a:t>china-vertebrate-trait-biogeography</a:t>
            </a:r>
            <a:endParaRPr lang="zh-CN" sz="1575" dirty="0">
              <a:solidFill>
                <a:srgbClr val="FFFFFF"/>
              </a:solidFill>
              <a:latin typeface="Consolas"/>
              <a:ea typeface="微软雅黑"/>
              <a:cs typeface="Consola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986808" y="3974306"/>
            <a:ext cx="4218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FC4EA"/>
                </a:solidFill>
                <a:latin typeface="Arial" panose="020B0604020202090204"/>
                <a:ea typeface="微软雅黑"/>
                <a:cs typeface="Arial" panose="020B0604020202090204"/>
              </a:rPr>
              <a:t>24 个脚本 · 15 幅正文图 · 9 幅扩展图 · 21 张规范化表格</a:t>
            </a:r>
            <a:endParaRPr lang="zh-CN" sz="1125" dirty="0">
              <a:solidFill>
                <a:srgbClr val="8FC4E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34843" y="4556760"/>
            <a:ext cx="63223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9D9F2"/>
                </a:solidFill>
                <a:latin typeface="Arial" panose="020B0604020202090204"/>
                <a:ea typeface="微软雅黑"/>
                <a:cs typeface="Arial" panose="020B0604020202090204"/>
              </a:rPr>
              <a:t>受 IUCN 使用条款约束的物种级数据不随仓库分发，DATA.md 中给出逐项获取方式</a:t>
            </a:r>
            <a:endParaRPr lang="zh-CN" sz="1200" dirty="0">
              <a:solidFill>
                <a:srgbClr val="B9D9F2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68346" y="4861560"/>
            <a:ext cx="66553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9D9F2"/>
                </a:solidFill>
                <a:latin typeface="Arial" panose="020B0604020202090204"/>
                <a:ea typeface="微软雅黑"/>
                <a:cs typeface="Arial" panose="020B0604020202090204"/>
              </a:rPr>
              <a:t>中国本土性状数据集：Song 2022・Zhong 2022・Wang 2021・Wang J. 2023・Ding 2022</a:t>
            </a:r>
            <a:endParaRPr lang="zh-CN" sz="1200" dirty="0">
              <a:solidFill>
                <a:srgbClr val="B9D9F2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377339" y="54721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敬请指正</a:t>
            </a:r>
            <a:endParaRPr lang="zh-CN" sz="22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02645" y="6023610"/>
            <a:ext cx="3386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FB3DA"/>
                </a:solidFill>
                <a:latin typeface="Arial" panose="020B0604020202090204"/>
                <a:ea typeface="微软雅黑"/>
                <a:cs typeface="Arial" panose="020B0604020202090204"/>
              </a:rPr>
              <a:t>丁晨晨 北京大学 jialeding1220@gmail.com</a:t>
            </a:r>
            <a:endParaRPr lang="zh-CN" sz="1200" dirty="0">
              <a:solidFill>
                <a:srgbClr val="7FB3D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6662</Words>
  <Application>WPS 文字</Application>
  <PresentationFormat>On-screen Show (4:3)</PresentationFormat>
  <Paragraphs>812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宋体</vt:lpstr>
      <vt:lpstr>Wingdings</vt:lpstr>
      <vt:lpstr>Arial</vt:lpstr>
      <vt:lpstr>微软雅黑</vt:lpstr>
      <vt:lpstr>汉仪旗黑</vt:lpstr>
      <vt:lpstr>Consolas</vt:lpstr>
      <vt:lpstr>微软雅黑</vt:lpstr>
      <vt:lpstr>宋体</vt:lpstr>
      <vt:lpstr>Arial Unicode MS</vt:lpstr>
      <vt:lpstr>Calibri</vt:lpstr>
      <vt:lpstr>Helvetica Neue</vt:lpstr>
      <vt:lpstr>汉仪书宋二KW</vt:lpstr>
      <vt:lpstr>Thonburi</vt:lpstr>
      <vt:lpstr>Consolas</vt:lpstr>
      <vt:lpstr>微软雅黑</vt:lpstr>
      <vt:lpstr>苹方-简</vt:lpstr>
      <vt:lpstr>MS PGothic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丁晨晨</cp:lastModifiedBy>
  <cp:revision>2</cp:revision>
  <dcterms:created xsi:type="dcterms:W3CDTF">2026-08-03T15:31:22Z</dcterms:created>
  <dcterms:modified xsi:type="dcterms:W3CDTF">2026-08-03T15:31:22Z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E3F655E63EA700D44AB4706A93DA711F_42</vt:lpwstr>
  </property>
  <property fmtid="{D5CDD505-2E9C-101B-9397-08002B2CF9AE}" pid="3" name="KSOProductBuildVer">
    <vt:lpwstr>2052-12.1.22218.22218</vt:lpwstr>
  </property>
</Properties>
</file>